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084187eabe439d" /><Relationship Type="http://schemas.openxmlformats.org/officeDocument/2006/relationships/extended-properties" Target="/docProps/app.xml" Id="R1286005e2d414af4" /><Relationship Type="http://schemas.openxmlformats.org/officeDocument/2006/relationships/officeDocument" Target="/ppt/presentation.xml" Id="Rebf28262e2db40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003d7654cc405c"/>
  </p:sldMasterIdLst>
  <p:notesMasterIdLst>
    <p:notesMasterId xmlns:r="http://schemas.openxmlformats.org/officeDocument/2006/relationships" r:id="Rfa281eaf11ed407f"/>
  </p:notesMasterIdLst>
  <p:sldIdLst>
    <p:sldId xmlns:r="http://schemas.openxmlformats.org/officeDocument/2006/relationships" id="256" r:id="Rfa04d73ec795467e"/>
    <p:sldId xmlns:r="http://schemas.openxmlformats.org/officeDocument/2006/relationships" id="257" r:id="R3061dd35bc014a7f"/>
    <p:sldId xmlns:r="http://schemas.openxmlformats.org/officeDocument/2006/relationships" id="258" r:id="R37843c01b19c434b"/>
    <p:sldId xmlns:r="http://schemas.openxmlformats.org/officeDocument/2006/relationships" id="259" r:id="R08922d75f8a94687"/>
    <p:sldId xmlns:r="http://schemas.openxmlformats.org/officeDocument/2006/relationships" id="260" r:id="R9f400dc241284c81"/>
    <p:sldId xmlns:r="http://schemas.openxmlformats.org/officeDocument/2006/relationships" id="261" r:id="Red17a9b1401b4484"/>
    <p:sldId xmlns:r="http://schemas.openxmlformats.org/officeDocument/2006/relationships" id="262" r:id="R1a80c6ace4864975"/>
    <p:sldId xmlns:r="http://schemas.openxmlformats.org/officeDocument/2006/relationships" id="263" r:id="R31640edc27d149a3"/>
    <p:sldId xmlns:r="http://schemas.openxmlformats.org/officeDocument/2006/relationships" id="264" r:id="R09467d990ecc441c"/>
    <p:sldId xmlns:r="http://schemas.openxmlformats.org/officeDocument/2006/relationships" id="265" r:id="R5331bfe4a6724a9a"/>
    <p:sldId xmlns:r="http://schemas.openxmlformats.org/officeDocument/2006/relationships" id="266" r:id="Rd9726dbbb6304f15"/>
    <p:sldId xmlns:r="http://schemas.openxmlformats.org/officeDocument/2006/relationships" id="267" r:id="R3338e1c7d05149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88d83440de41b2" /><Relationship Type="http://schemas.openxmlformats.org/officeDocument/2006/relationships/slideMaster" Target="/ppt/slideMasters/slideMaster1.xml" Id="Rf7003d7654cc405c" /><Relationship Type="http://schemas.openxmlformats.org/officeDocument/2006/relationships/notesMaster" Target="/ppt/notesMasters/notesMaster1.xml" Id="Rfa281eaf11ed407f" /><Relationship Type="http://schemas.openxmlformats.org/officeDocument/2006/relationships/presProps" Target="/ppt/presProps.xml" Id="R4c8f0b28b50346f1" /><Relationship Type="http://schemas.openxmlformats.org/officeDocument/2006/relationships/tableStyles" Target="/ppt/tableStyles.xml" Id="R965005eec00b4ccc" /><Relationship Type="http://schemas.openxmlformats.org/officeDocument/2006/relationships/slide" Target="/ppt/slides/slide1.xml" Id="Rfa04d73ec795467e" /><Relationship Type="http://schemas.openxmlformats.org/officeDocument/2006/relationships/slide" Target="/ppt/slides/slide2.xml" Id="R3061dd35bc014a7f" /><Relationship Type="http://schemas.openxmlformats.org/officeDocument/2006/relationships/slide" Target="/ppt/slides/slide3.xml" Id="R37843c01b19c434b" /><Relationship Type="http://schemas.openxmlformats.org/officeDocument/2006/relationships/slide" Target="/ppt/slides/slide4.xml" Id="R08922d75f8a94687" /><Relationship Type="http://schemas.openxmlformats.org/officeDocument/2006/relationships/slide" Target="/ppt/slides/slide5.xml" Id="R9f400dc241284c81" /><Relationship Type="http://schemas.openxmlformats.org/officeDocument/2006/relationships/slide" Target="/ppt/slides/slide6.xml" Id="Red17a9b1401b4484" /><Relationship Type="http://schemas.openxmlformats.org/officeDocument/2006/relationships/slide" Target="/ppt/slides/slide7.xml" Id="R1a80c6ace4864975" /><Relationship Type="http://schemas.openxmlformats.org/officeDocument/2006/relationships/slide" Target="/ppt/slides/slide8.xml" Id="R31640edc27d149a3" /><Relationship Type="http://schemas.openxmlformats.org/officeDocument/2006/relationships/slide" Target="/ppt/slides/slide9.xml" Id="R09467d990ecc441c" /><Relationship Type="http://schemas.openxmlformats.org/officeDocument/2006/relationships/slide" Target="/ppt/slides/slide10.xml" Id="R5331bfe4a6724a9a" /><Relationship Type="http://schemas.openxmlformats.org/officeDocument/2006/relationships/slide" Target="/ppt/slides/slide11.xml" Id="Rd9726dbbb6304f15" /><Relationship Type="http://schemas.openxmlformats.org/officeDocument/2006/relationships/slide" Target="/ppt/slides/slide12.xml" Id="R3338e1c7d05149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7310faeb19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1ce28826fa4052" /><Relationship Type="http://schemas.openxmlformats.org/officeDocument/2006/relationships/notesMaster" Target="/ppt/notesMasters/notesMaster1.xml" Id="R84ef0c6c2c4942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461f9bcfae4c1b" /><Relationship Type="http://schemas.openxmlformats.org/officeDocument/2006/relationships/notesMaster" Target="/ppt/notesMasters/notesMaster1.xml" Id="R0e6d0ef05ff94a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2224a7e72d4796" /><Relationship Type="http://schemas.openxmlformats.org/officeDocument/2006/relationships/notesMaster" Target="/ppt/notesMasters/notesMaster1.xml" Id="Rd7b8b982f7194d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52d7af3afa45c1" /><Relationship Type="http://schemas.openxmlformats.org/officeDocument/2006/relationships/notesMaster" Target="/ppt/notesMasters/notesMaster1.xml" Id="Re025d3d97adf46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4f5272e82d4105" /><Relationship Type="http://schemas.openxmlformats.org/officeDocument/2006/relationships/notesMaster" Target="/ppt/notesMasters/notesMaster1.xml" Id="R975f1025114a4c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83f7bc060c4b4b" /><Relationship Type="http://schemas.openxmlformats.org/officeDocument/2006/relationships/notesMaster" Target="/ppt/notesMasters/notesMaster1.xml" Id="Rff975dcdb8024b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76e8de1aed42e7" /><Relationship Type="http://schemas.openxmlformats.org/officeDocument/2006/relationships/notesMaster" Target="/ppt/notesMasters/notesMaster1.xml" Id="R906b1989e54948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6631cdf000458d" /><Relationship Type="http://schemas.openxmlformats.org/officeDocument/2006/relationships/notesMaster" Target="/ppt/notesMasters/notesMaster1.xml" Id="Rf5f181eb3cac49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40c12ddfd34e83" /><Relationship Type="http://schemas.openxmlformats.org/officeDocument/2006/relationships/notesMaster" Target="/ppt/notesMasters/notesMaster1.xml" Id="Rfdc7e322864444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136613c2f346e6" /><Relationship Type="http://schemas.openxmlformats.org/officeDocument/2006/relationships/notesMaster" Target="/ppt/notesMasters/notesMaster1.xml" Id="Ra81204a72b644e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1099659f1c4404" /><Relationship Type="http://schemas.openxmlformats.org/officeDocument/2006/relationships/notesMaster" Target="/ppt/notesMasters/notesMaster1.xml" Id="R703e67bd994948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27061d4d72407d" /><Relationship Type="http://schemas.openxmlformats.org/officeDocument/2006/relationships/notesMaster" Target="/ppt/notesMasters/notesMaster1.xml" Id="R9388ba92def141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Targets come from MEMORYHIVE_REQUIREMENTS.md success criteria and non-functional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framing from MEMORYHIVE_REQUIREMENTS.md sections 1, 6, and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scope and explicit non-goals are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Workstreams map to MEMORA_README.md architecture and roadmap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combines MEMORA_README.md current stack with MEMORYHIVE_REQUIREMENTS.md target storage and AI pipeline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Learning outcomes are derived from the requested audience and source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Project tracks translate the PRD into intern-sized delivery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Build plan is an operating proposal, not a source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Operating model created for the recruiting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Phone sketch is a native editable product concept diagram, not 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Closing slide for intern recruiting conversation.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b889a30834d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db01e56a444f76" /><Relationship Type="http://schemas.openxmlformats.org/officeDocument/2006/relationships/slideLayout" Target="/ppt/slideLayouts/slideLayout1.xml" Id="R1734a798e0d1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34a798e0d1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d052559ee4c1c" /><Relationship Type="http://schemas.openxmlformats.org/officeDocument/2006/relationships/image" Target="/ppt/media/image.png" Id="R7620e0a47b6f425c" /><Relationship Type="http://schemas.openxmlformats.org/officeDocument/2006/relationships/notesSlide" Target="/ppt/notesSlides/notesSlide1.xml" Id="Rcc0124fb128749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956efe3cd4ab1" /><Relationship Type="http://schemas.openxmlformats.org/officeDocument/2006/relationships/notesSlide" Target="/ppt/notesSlides/notesSlide2.xml" Id="R7c0331c6f3eb4c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aad3eb99b415a" /><Relationship Type="http://schemas.openxmlformats.org/officeDocument/2006/relationships/notesSlide" Target="/ppt/notesSlides/notesSlide3.xml" Id="Rc8d3e1a34fdd4b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4bc07e01742a7" /><Relationship Type="http://schemas.openxmlformats.org/officeDocument/2006/relationships/notesSlide" Target="/ppt/notesSlides/notesSlide4.xml" Id="R559e1abe584c4a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337933d24e07" /><Relationship Type="http://schemas.openxmlformats.org/officeDocument/2006/relationships/notesSlide" Target="/ppt/notesSlides/notesSlide5.xml" Id="Rfbd96998e6d94b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88abdb2a654f36" /><Relationship Type="http://schemas.openxmlformats.org/officeDocument/2006/relationships/notesSlide" Target="/ppt/notesSlides/notesSlide6.xml" Id="R572f6d392a924b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0acf286564896" /><Relationship Type="http://schemas.openxmlformats.org/officeDocument/2006/relationships/notesSlide" Target="/ppt/notesSlides/notesSlide7.xml" Id="R1059b2448a2b48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58d111e074e30" /><Relationship Type="http://schemas.openxmlformats.org/officeDocument/2006/relationships/notesSlide" Target="/ppt/notesSlides/notesSlide8.xml" Id="R77d75e8e2e1941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1510964a648d5" /><Relationship Type="http://schemas.openxmlformats.org/officeDocument/2006/relationships/notesSlide" Target="/ppt/notesSlides/notesSlide9.xml" Id="R054f3e8c628e4f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b86d702514ee2" /><Relationship Type="http://schemas.openxmlformats.org/officeDocument/2006/relationships/notesSlide" Target="/ppt/notesSlides/notesSlide10.xml" Id="Re38b456eee214b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778c96a91408d" /><Relationship Type="http://schemas.openxmlformats.org/officeDocument/2006/relationships/notesSlide" Target="/ppt/notesSlides/notesSlide11.xml" Id="R8541864c2b234f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f19a55284a4da5" /><Relationship Type="http://schemas.openxmlformats.org/officeDocument/2006/relationships/notesSlide" Target="/ppt/notesSlides/notesSlide12.xml" Id="R69244b3983074e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0e0a47b6f425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5CFDDC-BC43-48C2-A9C8-EBE21CBD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5A09D-534B-4068-96AF-C0F5BDB4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New Graduate Engineering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580EA-CB64-4CB2-85FF-F9A3EECA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59122-9B7C-4A7D-A414-77534160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the mobile memory layer for useful links, screenshots, and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D9CC7-FAF0-46F7-ACDC-52295BE7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15E23-0B27-4878-8BC9-193FBC17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62530-E6A9-4DBC-9B08-6A55FE63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449219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4386B-BFF8-432B-93D2-A23DD3A8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Memora Exists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1AD02-F327-4783-A42B-177CA2E8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People save useful knowledge faster than they can organize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006F57-9040-4F19-86D8-B47AD28E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21B9B-A7FB-449E-BBF6-5EB8EFE7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B0ABC-4EE1-4455-9C06-B62F4C6F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rPr>
              <a:t>2 sec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C70BB-4EDE-4E94-B6E6-523A47CF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Target time to capture a useful item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85CCD-4966-4690-8791-D1C12AFD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FF72B-D685-4427-B678-742133A0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816EF-F5EC-4C0D-A58D-35674756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rPr>
              <a:t>500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EE244-268C-4329-A580-0E9295E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Target save action for instant local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4E89E-A4B0-4D62-B15E-819B420D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28956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F1854B-ADB7-46D6-85D5-31D9589D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762125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227FC-0720-4D7B-9085-C5AC6E3D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5262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B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B000"/>
                </a:solidFill>
                <a:latin typeface="Helvetica Neue"/>
                <a:ea typeface="Helvetica Neue"/>
                <a:cs typeface="Helvetica Neue"/>
              </a:rPr>
              <a:t>Offline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7B1AD-C5E2-40A1-8185-10471BD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526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Core capture and search should work without network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BA2A1-6906-4B56-BDA5-8F984323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76625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user pain is simple: links, screenshots, and notes get saved across apps, then disappear when the user actually needs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1DACC-8638-49A2-81C5-78C3AA57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910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hold valuable text, but normal bookmark tools cannot search them.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 preserve the URL, but lose the reason the user saved it.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apps work only when users stop and organize manually.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A934C-E62C-4C80-B825-870C2C9C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1A64E-77E0-4163-B9F8-7518D9506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F3335-EC42-4A72-9233-FCBE6B52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09384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78787E-A507-4037-98D8-C62A84E9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007AFF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AD334-63C4-4570-91BA-222E9F29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Capture, Understanding, Recall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1E79B-15BB-4983-AB38-F4FC3E9C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product rule: every feature must improve one of these three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62DFA-9EC3-4A94-8279-6A1A0266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C9F66-3893-4D8D-BA6C-B12052FA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39853-7C42-4170-A778-E6F93D3D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Screenshots, URLs, text, and photos saved from mobile 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A40A6-C5F0-4568-9AA4-65B8F88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D047A0-5D20-4A9A-9212-87303C0A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B11D3-A662-4000-9DBE-31FF30AA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link extraction, summaries, and tags run in the background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00DE8-AC64-47EC-B4D5-509BEDC5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47875"/>
            <a:ext cx="2895600" cy="1476375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70DBB-A035-4F08-8462-E8870A8A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193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3240D-DB16-4419-A09B-FC9B5B6F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62225"/>
            <a:ext cx="2514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Full-text search across items, source filters, time filters, and resurfaced context</a:t>
            </a:r>
          </a:p>
        </p:txBody>
      </p:sp>
      <p:cxnSp>
        <p:nvCxnSpPr>
          <p:cNvPr id="36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33800" y="27860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543800" y="2786063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DB61F-42ED-4302-A92B-159429C6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Core principles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547D6-D3A0-45EC-829F-56F1BB85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3716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EAF3FF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Mobile-first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CB1C9-CE0F-4406-AF5E-1EC49193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EAFBF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Offline-first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13987-5C81-49F4-90E7-CAD3DECA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15240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3F7"/>
          </a:solidFill>
          <a:ln xmlns:a="http://schemas.openxmlformats.org/drawingml/2006/main" w="0">
            <a:solidFill>
              <a:srgbClr val="F0F3F7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ownership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148C0-B99E-4127-A3AF-B63DCEE8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762500"/>
            <a:ext cx="14287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5D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Background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47B6F-81D2-46DC-8095-E546DCB6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762500"/>
            <a:ext cx="13525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EDEA"/>
          </a:solidFill>
          <a:ln xmlns:a="http://schemas.openxmlformats.org/drawingml/2006/main" w="0">
            <a:solidFill>
              <a:srgbClr val="FFEDE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Minimal effort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E2DD1-3FD9-4760-8113-74401AF6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4AC33-0A79-45CF-A246-B2F489EC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0354E8-711D-4F4B-9B5C-DB85D810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6858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917B06-916B-479E-B83E-FA7AAACB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BED3D-8F39-4E91-A583-89276B7B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first release should make capture feel instant and recall feel obvious.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14378-42C1-4399-B6D5-908C9805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E66AB-9474-43C2-A1DA-C738D021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1DD14-C8CF-45B9-A8CA-106EAAE4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36C7F-22C7-4860-B4B3-A094AB9E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669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Save from share menu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EBEC9-4A5F-4065-8B8B-CCC7B38B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76550"/>
            <a:ext cx="137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screenshot, link, or text snippet reaches Memora without extra metadata.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33700-046A-4480-BAB4-2F7EC341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AECA2-97B0-4F39-A057-21386686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0B7CD-4BEB-48A5-B2E3-8FE399BB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A1A4B-E2BA-43F9-859F-CFB116AF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Store locally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6485D-09CF-4C56-9BCF-8CF9D77C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137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Raw content and the first search index land on the device first.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7D6DF0-62A8-4C31-9896-81705F92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18C51B-1FA4-4C93-B221-80991165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2ECD4-DB5C-42A2-902E-D76BD6E8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E47D39-C3DB-4634-A023-0C3DE4AF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669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Process in background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F3F21-399D-4BCD-BD78-F8961566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76550"/>
            <a:ext cx="137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title extraction, summary, and tags run after the save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014EC-3D94-45B1-A6DC-C4E9AD7F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2479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65D13B-FBBA-453E-8704-3F483D0F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86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51AEE-A932-4F91-BD87-DCF92E9D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007BA-4C00-40D1-A7A1-58DF8B6F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66950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385953-1809-445A-AE12-14034EDD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76550"/>
            <a:ext cx="1371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Users find items by words inside screenshots, links, source, or time.</a:t>
            </a:r>
          </a:p>
        </p:txBody>
      </p:sp>
      <p:cxnSp>
        <p:nvCxnSpPr>
          <p:cNvPr id="52" name="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337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48700" y="31813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4B2C2-28EF-4127-9FBE-60584044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953000"/>
            <a:ext cx="962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MVP avoids folders, collaboration feeds, task management, and chat with notes. That restraint gives interns a clearer product surface and a better engineering target.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FC27B3-B0CB-4A21-96A5-6A8D4BE7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99AC6-78CB-4BF0-9383-77878EE6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AE37D-BD76-4CB4-B6A4-BC08D1D7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3029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F7C3F-6AEF-4E80-BFE4-E75E439B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What New Grads Will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F335A-2D68-4551-B1A4-975CAAF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real product surface with meaningful ownership across mobile, backend, search, sync, and 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6B09C-FC23-4A1F-8E91-68AF642D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1D332-F83E-4CAC-8796-DA8A3CF9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C7478-963C-4484-9B3D-C30F298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76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Mobile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41CD4-1009-465B-AD47-917A21F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6764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React Native and Expo flows for camera, image picker, share sheet, deep links, and offline-first UX.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941EF-C264-442C-92A1-E1617A29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C4AE8-CD69-48B0-910E-42E6AD7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756C3-55BD-4603-96A4-70EF6817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data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94B3D-4706-4B85-954D-8B1944FC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289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MMKV storage, encrypted session state, search index persistence, and device-first performance tuning.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29779-1E2A-43AA-B76F-B15A907F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10B59-4E36-4F13-8BBB-6A00B9DD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7FBFE-5FE3-4643-A7EF-C046E2B2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814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Backend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068C7E-B565-4640-A420-A63D9880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814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FastAPI APIs for auth, metadata, items, sync push/pull, stats, and cloud persistence.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3FB64-8892-4317-8E4F-4F95A3AD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04394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75435-B197-4B25-8416-E07196B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solidFill>
              <a:srgbClr val="FF3B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CD0F3-7014-48FC-92BA-17D9A74D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339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and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DCC59-1403-4E2B-B400-E6A1C743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33900"/>
            <a:ext cx="758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link extraction, summary generation, auto tags, and background processing orchestration.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CB39B-DE57-43C0-A006-7D0E13BC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8C12AB-9A63-443A-BDBC-CA85299C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6B5526-5FAC-43B3-B942-8F1FA67D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853716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72A35-8E67-48C0-86A2-AD4FB1F2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REFERENCE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21781-6A95-4696-AED9-FD5B75A6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Mobile-First Technical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D5C63-369A-4BF1-BC8B-4E7DBCA2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The architecture teaches practical product engineering: latency, offline behavior, sync, data ownership, and asynchronous processing.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B93E9-25AF-4C81-970B-EF61C283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3223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25945-4F9B-43A2-9F50-6DCB3B43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 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9A1DF-D444-4C29-B9B4-B2D8BD2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Expo Router, React Native, Zustand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72A15-7899-4683-9293-4FB96EFF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4F5AC-9874-4067-90A5-08C4B766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store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5ED4C-0008-458E-9E97-D71B9C5E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MMKV, SecureStore, local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D73A9-2E1F-4302-8FF7-44840B83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33260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1BA13-411E-478F-8A75-1DB2B783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API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ECCBB-C23A-4B8C-B85B-1A1E4BB1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Auth, items, search, sync, 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6DB6D-FD7E-459D-B62E-B9650551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90750"/>
            <a:ext cx="223837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2E18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4657B-F027-453C-B480-80F70932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622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89D49-67FD-4EBB-A2BD-E3FB9EC6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1857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Postgres or MongoDB, MinIO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1942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5787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696325" y="2819400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4B7D9-0883-408F-BE89-25A1DA45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76750"/>
            <a:ext cx="5076825" cy="895350"/>
          </a:xfrm>
          <a:prstGeom xmlns:a="http://schemas.openxmlformats.org/drawingml/2006/main" prst="roundRect">
            <a:avLst>
              <a:gd name="adj" fmla="val 10638"/>
            </a:avLst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EE4E0-E682-4871-9B61-698FD555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Background 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70C11-BE8B-47DE-9B1D-9302E3D5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91100"/>
            <a:ext cx="4695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summary, keywords, auto tags</a:t>
            </a:r>
          </a:p>
        </p:txBody>
      </p:sp>
      <p:cxnSp>
        <p:nvCxnSpPr>
          <p:cNvPr id="48" name=""/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57913" y="3448050"/>
            <a:ext cx="14192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390900" y="3448050"/>
            <a:ext cx="1347788" cy="14763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B64559-1C47-4FFC-A84A-D99BFD03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D9FF7B-D9FC-4F88-AEA6-9717E980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27994-9B9E-4EA0-A86E-76476891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38536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60C45-33C8-4825-9097-F37A387E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EADDB-6868-4C5D-861D-198861A0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project is narrow enough for focus and deep enough for serious engineering growth.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33E0D-CBD0-4ADC-BA29-0FD87E4C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AABCA9-2E93-4095-8E8B-67B13580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Mobile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AA389-80FA-4138-A318-46FF2FDD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flows, navigation, permissions, and app store constraints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430C9-9ABC-4A59-85F7-8E4DD689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049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F4E75-EC0E-4B93-B9EE-713252D2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Offline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2AD8F-963C-4ED7-BD5B-A4B5B19E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812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Local persistence, sync queues, retries, and conflict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5BB1D-A8ED-4E7C-927A-F6938969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B1EE2-393E-41DC-A09E-F7149911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API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1FC7D-C56F-4CCB-B2B8-679C98B2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Auth, pagination, filters, CRUD, and observable service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37B83-DEAB-4344-87D1-B3FAC2E3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4320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30B56-F7D1-4188-8251-1B6CF822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14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Search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3AE7A-0F64-4F03-9FB4-765B161A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Text extraction, indexing, ranking, and empty-state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7A22A-2EEF-4963-813B-88ED9A6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DC40A-336D-403F-958F-DB0F8924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AI product judgment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86961-DFBF-4A9B-9AEF-9F58C38D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When OCR and summaries help, and when they should stay optional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EFDCA-C435-4FA4-AF22-462913F9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49149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DDDB9-EAEF-4840-8D0B-1FBEE61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Privacy engineering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03D4C-4649-415C-AA37-5B2E5C3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5770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Data export, deletion, clear storage choices, and trust-building UX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3C6CB-0E90-4C60-960D-8C0DE56E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AB5C4-877D-439C-AF32-8C2E3F83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08C24D-86A4-4162-8F69-61B8EDD3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582636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657AE-7C49-416C-892C-9DDFCC19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Intern Project Tracks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1BB163-DCC9-4018-9563-CF86D821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Each track ends with a demoable product increment and a written engineering decision record.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C265E-22A5-4151-A63E-C93A6C53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784B3-85E8-4154-BD42-59C4B40C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954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 track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C9DAE-52E4-47FA-8CE7-22F64E6F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859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Share sheet, camera/gallery intake, text note 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1A91F-4514-4B28-8B90-337BC684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859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capture flow that works in under two seconds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6D1CC-5575-43E9-8574-EE7E2581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1199E-87A2-437C-AE31-E46B95D6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Recall track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2237B-FE71-40D1-A9AD-B3091A9F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955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OCR ingestion, local index, filters, result grouping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E9DF5-D1E2-4798-A765-5E3BB0F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955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Search that finds screenshot text and saved links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79F66-4404-43BA-A0C3-C65E613D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B526DB-0F6B-4156-90C3-D36148DA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Sync track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F72E1-DCE9-441A-8D80-99AF1DEE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052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Push/pull, retry queue, merge rules, network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09539-CE7C-442A-8B52-D5CF8034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052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Offline capture that syncs without user intervention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7CA708-A06B-44C5-97E5-C2CC1FEB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7061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67E1F-AB77-4113-A29B-2BF4AB57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244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AI 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4AA81-FF93-4B30-9FDC-6EEF8479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14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Readable link extraction, summaries, keywords,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7BFAA-34A0-43F3-8575-B4A70BD8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14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Background enrichment that never blocks saving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D29CD5-883D-43C9-8D7E-F7B3171B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Track scope can be assigned to individuals or two-person pods depending on intern count.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A0F8F-BEC1-4196-AC6F-66315A00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81AEB-258F-4A95-B6A7-EBD60731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5DD3C-2C20-4C06-8572-6F477ED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49453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8390D-3CA0-4A83-828C-7DF25B4A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Eight Week Build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56842-127A-4500-B9BB-469BD63C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plan balances onboarding, implementation, validation, and a final product demo.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71118-2695-42C2-B26A-B78E7E9E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05125"/>
            <a:ext cx="962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AB6C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3F72A-A843-4F65-8E3C-7AC5F9E2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4DD94-944E-429C-B833-B5DB35BC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CBC816-8157-49E7-AD09-DE8DD96F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Product and stack onboarding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260E6C-2012-4023-BA1B-CD111CDA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33161-3CD3-4366-A48F-87728E8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2-3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44487-EB7B-44B6-96BC-4E485803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Track implementation starts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887EA-E502-49D4-A775-EE2360D0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D092A-9E3F-416D-A62E-D76E37D2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4-5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B81B8-C71E-46C7-B41A-B70D4B1E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Search, sync, and quality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6F184-CAF8-4369-BEE0-E4C0C9A3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70360-2EBB-40EF-AAB3-50887C07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Weeks 6-7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47636-88A7-4026-8C98-06219554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Beta hardening and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F62477-4D25-4919-9F6B-F51A3D39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24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440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49C7C-939F-41B8-A18C-7F8729BD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33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Week 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594E5-0917-4335-B2B8-BF158711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957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Demo, handoff, next backlog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4EAD2-4F26-4F81-9FB5-462F2701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00625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Expected cadence: weekly demos, short design reviews, small pull requests, and a product metric attached to every feature.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3B849-97EB-4D7F-93D7-0362A5B3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2DEA9-6C34-4D61-8B49-C5794DA7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BE7FE2-041F-4F87-8A07-19254A9C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718506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4EA3E-DCAC-4E54-AFD4-9A474CE2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Engineering 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5989C-432E-4684-BDD6-8A431073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New grads learn how product, design, and engineering decisions connect.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F3749-E982-42FC-9DD9-E70A9BE8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F1C67-1491-402E-9BDC-F5853ACB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User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40E19-3173-418D-8B79-371286B5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Start with a real saved item and the recall moment the user wants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417ED-A0BB-4975-86A1-03AA5AB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9DD956-D828-4CB8-9F8E-E9C7D12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Thin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E926A-DAB1-4694-9AB2-2D19DBC6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Define the smallest behavior change worth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AEC40-81B6-4ADA-AE3F-3427842D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E16C5-F39F-48B9-92BC-1CA5C73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3563B-8AD2-48A9-ABF9-792394F1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Ship a focused increment with tests and observability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11A6B-3069-4152-A520-9A3005A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71700"/>
            <a:ext cx="21907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FEDE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D3DC6-746E-44B2-ACF0-092BA09E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43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Learn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AD978-D23B-4246-9C15-E88DB8C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86050"/>
            <a:ext cx="180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Review usage, latency, bugs, and the next product question</a:t>
            </a:r>
          </a:p>
        </p:txBody>
      </p:sp>
      <p:cxnSp>
        <p:nvCxnSpPr>
          <p:cNvPr id="36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9090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9125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991600" y="27813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ABE4C-FAE6-433F-94A1-13E7F1B0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model keeps the internship practical. Every project should improve capture speed, search success, or user trust.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17135-7554-4853-BD69-7158102D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BF11CF-25FD-42C6-B0E8-45406185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26DE2-7218-4440-8F7D-43B4FFD0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90160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FF335-0EF3-4C06-B8B5-DB690596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Why This Internship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5D54B-9196-4A91-8320-C399049F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New grads can own visible product behavior instead of isolated tasks.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3B8BF-488E-45F7-8820-B1441F61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strongest learning happens when engineers see how a small decision affects a real user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CF03E-CC5E-472E-B57D-CB7B769E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19375"/>
            <a:ext cx="809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capture bug directly affects whether users trust the app.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slow search result directly affects whether users come back.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poor privacy choice directly affects whether users store personal knowledge.</a:t>
            </a:r>
          </a:p>
          <a:p xmlns:a="http://schemas.openxmlformats.org/drawingml/2006/main">
            <a:pPr marL="215900" indent="-101600">
              <a:spcAft>
                <a:spcPts val="1000"/>
              </a:spcAft>
              <a:buChar char="•"/>
              <a:def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 clear demo lets interns show product judgment, not only implementation effort.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AEC13-A8FA-4910-895E-DE47D60B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38375"/>
            <a:ext cx="1333500" cy="2381250"/>
          </a:xfrm>
          <a:prstGeom xmlns:a="http://schemas.openxmlformats.org/drawingml/2006/main" prst="roundRect">
            <a:avLst>
              <a:gd name="adj" fmla="val 15714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5DD23-BE26-456F-867E-7A4ED9B6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57450"/>
            <a:ext cx="1066800" cy="180975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A2430"/>
          </a:solidFill>
          <a:ln xmlns:a="http://schemas.openxmlformats.org/drawingml/2006/main" w="9525">
            <a:solidFill>
              <a:srgbClr val="2E3A4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56247-1053-4571-9E6D-77D57540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07AFF"/>
          </a:solidFill>
          <a:ln xmlns:a="http://schemas.openxmlformats.org/drawingml/2006/main" w="0">
            <a:solidFill>
              <a:srgbClr val="007A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C6F81-B6B7-4611-8006-FCF0D566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28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4C759"/>
          </a:solidFill>
          <a:ln xmlns:a="http://schemas.openxmlformats.org/drawingml/2006/main" w="0">
            <a:solidFill>
              <a:srgbClr val="34C75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B26C9-8170-4E23-BCF4-6E98E435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09950"/>
            <a:ext cx="76200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FFB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67A44D-23E6-422C-98C2-6BE78A23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381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9"/>
          </a:solidFill>
          <a:ln xmlns:a="http://schemas.openxmlformats.org/drawingml/2006/main" w="9525">
            <a:solidFill>
              <a:srgbClr val="5A67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6A81CD-6570-49A8-804E-EEAE7759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00B73-FDD3-4BD8-8046-BB75DAC5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C452D4-4AC6-4995-96C5-1B49D799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533654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FF5B0-9FD1-4963-8114-A72E626A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The Opportunity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84886-1BD9-41D7-BED8-1F99559F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Build the memory layer for mobile knowledge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CE091-F3F2-4C97-BF47-A69B2FE1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676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Memora is narrow by design: capture useful information once, understand it in the background, and recall it when it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E49203-ED5A-488D-A2D2-1EDD91CE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17145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A"/>
          </a:solidFill>
          <a:ln xmlns:a="http://schemas.openxmlformats.org/drawingml/2006/main" w="0">
            <a:solidFill>
              <a:srgbClr val="102A4A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FE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CFE7FF"/>
                </a:solidFill>
                <a:latin typeface="Helvetica Neue"/>
                <a:ea typeface="Helvetica Neue"/>
                <a:cs typeface="Helvetica Neue"/>
              </a:rPr>
              <a:t>Mobile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05EF0-70D6-4149-8FF9-F62A278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81500"/>
            <a:ext cx="161925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A28"/>
          </a:solidFill>
          <a:ln xmlns:a="http://schemas.openxmlformats.org/drawingml/2006/main" w="0">
            <a:solidFill>
              <a:srgbClr val="123A28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F8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D3F8DE"/>
                </a:solidFill>
                <a:latin typeface="Helvetica Neue"/>
                <a:ea typeface="Helvetica Neue"/>
                <a:cs typeface="Helvetica Neue"/>
              </a:rPr>
              <a:t>Backend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C0E60-9C33-424C-9B19-54C1B094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1447800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3610"/>
          </a:solidFill>
          <a:ln xmlns:a="http://schemas.openxmlformats.org/drawingml/2006/main" w="0">
            <a:solidFill>
              <a:srgbClr val="4A3610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E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E6A4"/>
                </a:solidFill>
                <a:latin typeface="Helvetica Neue"/>
                <a:ea typeface="Helvetica Neue"/>
                <a:cs typeface="Helvetica Neue"/>
              </a:rPr>
              <a:t>Search and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05CA6-E4E8-4B94-A0A0-51AD7593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81500"/>
            <a:ext cx="138112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1A21"/>
          </a:solidFill>
          <a:ln xmlns:a="http://schemas.openxmlformats.org/drawingml/2006/main" w="0">
            <a:solidFill>
              <a:srgbClr val="411A21"/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D4D0"/>
                </a:solidFill>
                <a:latin typeface="Helvetica Neue"/>
                <a:ea typeface="Helvetica Neue"/>
                <a:cs typeface="Helvetica Neue"/>
              </a:rPr>
              <a:t>Product craft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77E66-7014-4BB5-96BF-507CE9A4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C1E93-5C82-46D8-AB0F-D5AC5523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A4ABD-3A45-41B9-BC00-D3561C47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9565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2026-09-05T06:35:01.5910000Z</dcterms:created>
  <dcterms:modified xsi:type="dcterms:W3CDTF">2026-09-05T06:35:01.5910000Z</dcterms:modified>
</coreProperties>
</file>