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d22858442c42ea" /><Relationship Type="http://schemas.openxmlformats.org/officeDocument/2006/relationships/extended-properties" Target="/docProps/app.xml" Id="R70dca4de298d4f88" /><Relationship Type="http://schemas.openxmlformats.org/officeDocument/2006/relationships/officeDocument" Target="/ppt/presentation.xml" Id="R91dcb765a3e043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0e32e9f8d341fb"/>
  </p:sldMasterIdLst>
  <p:notesMasterIdLst>
    <p:notesMasterId xmlns:r="http://schemas.openxmlformats.org/officeDocument/2006/relationships" r:id="R6a8866c1274e4d65"/>
  </p:notesMasterIdLst>
  <p:sldIdLst>
    <p:sldId xmlns:r="http://schemas.openxmlformats.org/officeDocument/2006/relationships" id="256" r:id="R13621917afb24481"/>
    <p:sldId xmlns:r="http://schemas.openxmlformats.org/officeDocument/2006/relationships" id="257" r:id="Rc1efdc41909b4693"/>
    <p:sldId xmlns:r="http://schemas.openxmlformats.org/officeDocument/2006/relationships" id="258" r:id="R102b30ad42ff47d2"/>
    <p:sldId xmlns:r="http://schemas.openxmlformats.org/officeDocument/2006/relationships" id="259" r:id="R453ce574c5424247"/>
    <p:sldId xmlns:r="http://schemas.openxmlformats.org/officeDocument/2006/relationships" id="260" r:id="R3273a1d5f1754505"/>
    <p:sldId xmlns:r="http://schemas.openxmlformats.org/officeDocument/2006/relationships" id="261" r:id="R545263c3d1cd4660"/>
    <p:sldId xmlns:r="http://schemas.openxmlformats.org/officeDocument/2006/relationships" id="262" r:id="R40622f9548cd4451"/>
    <p:sldId xmlns:r="http://schemas.openxmlformats.org/officeDocument/2006/relationships" id="263" r:id="R00e14e345fd54db1"/>
    <p:sldId xmlns:r="http://schemas.openxmlformats.org/officeDocument/2006/relationships" id="264" r:id="R2955459837cd498e"/>
    <p:sldId xmlns:r="http://schemas.openxmlformats.org/officeDocument/2006/relationships" id="265" r:id="Ra6841b638bc942c8"/>
    <p:sldId xmlns:r="http://schemas.openxmlformats.org/officeDocument/2006/relationships" id="266" r:id="R11c29d9ed4bd4b7f"/>
    <p:sldId xmlns:r="http://schemas.openxmlformats.org/officeDocument/2006/relationships" id="267" r:id="Rcc22b70f7d5e4ba6"/>
    <p:sldId xmlns:r="http://schemas.openxmlformats.org/officeDocument/2006/relationships" id="268" r:id="R4c431ff4aaa7476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e3af74007946d3" /><Relationship Type="http://schemas.openxmlformats.org/officeDocument/2006/relationships/slideMaster" Target="/ppt/slideMasters/slideMaster1.xml" Id="Rb70e32e9f8d341fb" /><Relationship Type="http://schemas.openxmlformats.org/officeDocument/2006/relationships/notesMaster" Target="/ppt/notesMasters/notesMaster1.xml" Id="R6a8866c1274e4d65" /><Relationship Type="http://schemas.openxmlformats.org/officeDocument/2006/relationships/presProps" Target="/ppt/presProps.xml" Id="R93dfbf0f087e4fd7" /><Relationship Type="http://schemas.openxmlformats.org/officeDocument/2006/relationships/tableStyles" Target="/ppt/tableStyles.xml" Id="R65b6557cf45d4d22" /><Relationship Type="http://schemas.openxmlformats.org/officeDocument/2006/relationships/slide" Target="/ppt/slides/slide1.xml" Id="R13621917afb24481" /><Relationship Type="http://schemas.openxmlformats.org/officeDocument/2006/relationships/slide" Target="/ppt/slides/slide2.xml" Id="Rc1efdc41909b4693" /><Relationship Type="http://schemas.openxmlformats.org/officeDocument/2006/relationships/slide" Target="/ppt/slides/slide3.xml" Id="R102b30ad42ff47d2" /><Relationship Type="http://schemas.openxmlformats.org/officeDocument/2006/relationships/slide" Target="/ppt/slides/slide4.xml" Id="R453ce574c5424247" /><Relationship Type="http://schemas.openxmlformats.org/officeDocument/2006/relationships/slide" Target="/ppt/slides/slide5.xml" Id="R3273a1d5f1754505" /><Relationship Type="http://schemas.openxmlformats.org/officeDocument/2006/relationships/slide" Target="/ppt/slides/slide6.xml" Id="R545263c3d1cd4660" /><Relationship Type="http://schemas.openxmlformats.org/officeDocument/2006/relationships/slide" Target="/ppt/slides/slide7.xml" Id="R40622f9548cd4451" /><Relationship Type="http://schemas.openxmlformats.org/officeDocument/2006/relationships/slide" Target="/ppt/slides/slide8.xml" Id="R00e14e345fd54db1" /><Relationship Type="http://schemas.openxmlformats.org/officeDocument/2006/relationships/slide" Target="/ppt/slides/slide9.xml" Id="R2955459837cd498e" /><Relationship Type="http://schemas.openxmlformats.org/officeDocument/2006/relationships/slide" Target="/ppt/slides/slide10.xml" Id="Ra6841b638bc942c8" /><Relationship Type="http://schemas.openxmlformats.org/officeDocument/2006/relationships/slide" Target="/ppt/slides/slide11.xml" Id="R11c29d9ed4bd4b7f" /><Relationship Type="http://schemas.openxmlformats.org/officeDocument/2006/relationships/slide" Target="/ppt/slides/slide12.xml" Id="Rcc22b70f7d5e4ba6" /><Relationship Type="http://schemas.openxmlformats.org/officeDocument/2006/relationships/slide" Target="/ppt/slides/slide13.xml" Id="R4c431ff4aaa747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e1dc26ed5c48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527dfe3476448c" /><Relationship Type="http://schemas.openxmlformats.org/officeDocument/2006/relationships/notesMaster" Target="/ppt/notesMasters/notesMaster1.xml" Id="R8fd096f5792046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344659b3e644d5" /><Relationship Type="http://schemas.openxmlformats.org/officeDocument/2006/relationships/notesMaster" Target="/ppt/notesMasters/notesMaster1.xml" Id="R0d09054b2f3d41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e795b2d49447e0" /><Relationship Type="http://schemas.openxmlformats.org/officeDocument/2006/relationships/notesMaster" Target="/ppt/notesMasters/notesMaster1.xml" Id="R01b4505cd6eb4d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12da347cd94cff" /><Relationship Type="http://schemas.openxmlformats.org/officeDocument/2006/relationships/notesMaster" Target="/ppt/notesMasters/notesMaster1.xml" Id="Reebacd0bf2a841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c110d50122477f" /><Relationship Type="http://schemas.openxmlformats.org/officeDocument/2006/relationships/notesMaster" Target="/ppt/notesMasters/notesMaster1.xml" Id="R9655a5c7268f4e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b5bb2847984ae3" /><Relationship Type="http://schemas.openxmlformats.org/officeDocument/2006/relationships/notesMaster" Target="/ppt/notesMasters/notesMaster1.xml" Id="R24f9664b986645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0a329e7d8a46e5" /><Relationship Type="http://schemas.openxmlformats.org/officeDocument/2006/relationships/notesMaster" Target="/ppt/notesMasters/notesMaster1.xml" Id="Rd1f4d0281ff14c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a68e6eac994a59" /><Relationship Type="http://schemas.openxmlformats.org/officeDocument/2006/relationships/notesMaster" Target="/ppt/notesMasters/notesMaster1.xml" Id="R57c9129a157a46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1df0cb55aa74368" /><Relationship Type="http://schemas.openxmlformats.org/officeDocument/2006/relationships/notesMaster" Target="/ppt/notesMasters/notesMaster1.xml" Id="R86dfa02414e74a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71cf7de540435d" /><Relationship Type="http://schemas.openxmlformats.org/officeDocument/2006/relationships/notesMaster" Target="/ppt/notesMasters/notesMaster1.xml" Id="R6fe6b85cef3b49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84461ed694465d" /><Relationship Type="http://schemas.openxmlformats.org/officeDocument/2006/relationships/notesMaster" Target="/ppt/notesMasters/notesMaster1.xml" Id="R7229ec62c15942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f0e9c507db4927" /><Relationship Type="http://schemas.openxmlformats.org/officeDocument/2006/relationships/notesMaster" Target="/ppt/notesMasters/notesMaster1.xml" Id="R4911a17989f645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d26421870a46bb" /><Relationship Type="http://schemas.openxmlformats.org/officeDocument/2006/relationships/notesMaster" Target="/ppt/notesMasters/notesMaster1.xml" Id="R86d04b5f762b4d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Generated cover visual created for this pitch package. No external market claims used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Problem statement from MEMORYHIVE_REQUIREMENTS.md section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Target and non-target users from MEMORYHIVE_REQUIREMENTS.md section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Product concept from MEMORYHIVE_REQUIREMENTS.md product summary and core use cases.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MVP and non-goals from MEMORYHIVE_REQUIREMENTS.md sections 9 and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Positioning is inferred from the PRD problem statement, principles, and non-goals. Competitive claims are category-level hypotheses to validate.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Architecture from MEMORA_README.md and MEMORYHIVE_REQUIREMENTS.md sections 7, 10, and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Roadmap from MEMORA_README.md. Status should be validated against the current app before external fundraising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Monetization direction from MEMORYHIVE_REQUIREMENTS.md section 12. Specific prices were not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Go-to-market motions are recommendations derived from the target users in the PRD. No external traction data was provided.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Funding allocation is a proposed use of funds. The source materials did not include round size or financial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Milestones are proposed planning targets for fundraising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source: MEMORA_README.md, cml-memoryhive-apps.</a:t>
            </a:r>
          </a:p>
          <a:p xmlns:a="http://schemas.openxmlformats.org/drawingml/2006/main">
            <a:r>
              <a:t>Product source: MEMORYHIVE_REQUIREMENTS.md, cml-memoryhive/docs.</a:t>
            </a:r>
          </a:p>
          <a:p xmlns:a="http://schemas.openxmlformats.org/drawingml/2006/main">
            <a:r>
              <a:t>Deck standardizes on the user-facing product name Memora. The PRD source uses Memoryhive.</a:t>
            </a:r>
          </a:p>
          <a:p xmlns:a="http://schemas.openxmlformats.org/drawingml/2006/main">
            <a:r>
              <a:t>Ask slide contains a placeholder because round size and terms were not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86c2ac0d843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2ddc770ac4c40" /><Relationship Type="http://schemas.openxmlformats.org/officeDocument/2006/relationships/slideLayout" Target="/ppt/slideLayouts/slideLayout1.xml" Id="R9b513fc9205944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513fc9205944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e4c0725594728" /><Relationship Type="http://schemas.openxmlformats.org/officeDocument/2006/relationships/image" Target="/ppt/media/image.png" Id="Rdc491e9591d24c88" /><Relationship Type="http://schemas.openxmlformats.org/officeDocument/2006/relationships/notesSlide" Target="/ppt/notesSlides/notesSlide1.xml" Id="Rc4e9bc3fe0a943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16fcc109d4627" /><Relationship Type="http://schemas.openxmlformats.org/officeDocument/2006/relationships/notesSlide" Target="/ppt/notesSlides/notesSlide2.xml" Id="R551a737fc9db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ea820edc72491f" /><Relationship Type="http://schemas.openxmlformats.org/officeDocument/2006/relationships/notesSlide" Target="/ppt/notesSlides/notesSlide3.xml" Id="R41b211a2e95e4f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13e3ad0c94c50" /><Relationship Type="http://schemas.openxmlformats.org/officeDocument/2006/relationships/notesSlide" Target="/ppt/notesSlides/notesSlide4.xml" Id="R00c68fee765749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fef594c514a22" /><Relationship Type="http://schemas.openxmlformats.org/officeDocument/2006/relationships/notesSlide" Target="/ppt/notesSlides/notesSlide5.xml" Id="Rf711571227ed4a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b510218544e6e" /><Relationship Type="http://schemas.openxmlformats.org/officeDocument/2006/relationships/notesSlide" Target="/ppt/notesSlides/notesSlide6.xml" Id="R1e3ffad4527c41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4a75f9f1f44e9" /><Relationship Type="http://schemas.openxmlformats.org/officeDocument/2006/relationships/notesSlide" Target="/ppt/notesSlides/notesSlide7.xml" Id="R69b8a261b55942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c9278daac4dc9" /><Relationship Type="http://schemas.openxmlformats.org/officeDocument/2006/relationships/notesSlide" Target="/ppt/notesSlides/notesSlide8.xml" Id="Rbc98cb94bc524e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968bc16fb4ded" /><Relationship Type="http://schemas.openxmlformats.org/officeDocument/2006/relationships/notesSlide" Target="/ppt/notesSlides/notesSlide9.xml" Id="R0b80271420cf4b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c8071ce285402c" /><Relationship Type="http://schemas.openxmlformats.org/officeDocument/2006/relationships/notesSlide" Target="/ppt/notesSlides/notesSlide10.xml" Id="R99105b5004c546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610b676f447c8" /><Relationship Type="http://schemas.openxmlformats.org/officeDocument/2006/relationships/notesSlide" Target="/ppt/notesSlides/notesSlide11.xml" Id="Rc79a14706ed4407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fc55f41eb4be9" /><Relationship Type="http://schemas.openxmlformats.org/officeDocument/2006/relationships/notesSlide" Target="/ppt/notesSlides/notesSlide12.xml" Id="Rd6a92ef9559841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49ebc39de3440a" /><Relationship Type="http://schemas.openxmlformats.org/officeDocument/2006/relationships/image" Target="/ppt/media/image2.png" Id="Rac73c28f7f6d4824" /><Relationship Type="http://schemas.openxmlformats.org/officeDocument/2006/relationships/notesSlide" Target="/ppt/notesSlides/notesSlide13.xml" Id="Rc7edc11bf5c74b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91e9591d24c8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43B62E-B721-4F4D-A4C9-3C4333FB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7B0055-AFDF-41D8-80AA-253175D0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Investor Pitch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4D46C6-81B2-4ABD-98FB-578241F9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61912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74076-7D3B-40CD-8C57-027395A4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81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A mobile-first app for capturing and recalling the useful information people save across their day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5C4BC-F402-4CD8-B2C2-F9F6F625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4C7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0C48A-84F3-4978-873C-7552117D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Prepared for Coding Monkey Labs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EDDFEA-8270-4F51-954A-9FCA7AB2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9AA8B8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181052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9AE209-9A8C-42BF-B1EB-56C90964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Digital Recall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5094FE-D8DE-4EA1-A3CE-AA4E096E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internet gives people more useful information than their current tools can recover later.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F7EAA-6553-4B46-8F0E-1EF144DE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619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Users already save the signal.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E33E1-3F95-447A-8993-81B68716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4572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of posts, charts, receipts, ideas, and references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Article links, social posts, videos, and research sources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Short notes copied from conversations and browsing sessions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8A0EDE-268A-401D-85F2-7F2AE760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saved material does not become useful memory.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306E9-EA93-412F-B2FC-AACB369FB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476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Screenshots remain invisible to normal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 lack context and decay into long lists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require effort exactly when the user wants speed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72165-62E2-417A-B06F-EDB9DF7C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2964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B1F71-A728-4BE5-97B6-CBB50A99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434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Memora's wedge is the gap between capture and recall.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14A32D-38CA-4BD7-866C-BBD00148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35C09-985A-4540-9B9A-E16CE322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A5ECF-EF3D-4BC7-B705-4BA9EA2C6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912715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18960-E327-45A0-8503-FDEA5683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Target Customer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265D7-AE26-44F0-8D42-E11C0281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Start with heavy mobile savers who feel the pain weekly.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13B34-F53D-4A72-AF8F-E51B0642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B02FF-3E49-45B6-80AA-34BCB412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Knowledge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007DF-F98E-40CB-A5E3-F8AFE6B5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Save screenshots and links during work, then need them in meetings or analysis.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02CEF-472D-4C66-8219-231AAF1D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D8E6C-03AE-45A3-A9A2-30D54BC3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47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Founders and builders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BF9A6-E26A-48AE-BA10-79E97CC3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2098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Collect product references, competitor examples, and customer signals.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ABF581-AACA-4967-9E38-52DD301B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4F2D54-C846-4C17-9E13-8B0631D6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Researchers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582CF1-AA29-4A48-8977-835784BD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articles, papers, charts, and sources across mobile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868D0F-A052-47A3-878F-584198C8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162300"/>
            <a:ext cx="50863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1A381-0493-4524-B9F1-4782FDCE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3528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Curious professionals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CEE87-DA94-40B2-BBC0-EE7F7F285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Build a personal library of ideas without wanting a complex note system.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5E3034-50B6-4979-B105-31418F9A7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162550"/>
            <a:ext cx="9677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Non-target users clarify focus: Memora should avoid project management, social collaboration, reminders, and folder-heavy workflows in v1.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69DD5-6B19-4762-803C-3682519A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5B78B-6EAD-4B7B-BEB7-F8EE8388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102B0-B13E-4FFC-9FAD-391A403A2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514032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454AA6-FAFC-4092-9EF1-E1998DB8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Wedge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B73FE-7ABC-4410-8D89-35FCA7D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One-tap capture creates the habit. Searchable recall creates retention.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5DC0A-9C92-44F5-B10F-0D0B0347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8D2048-73FA-437D-900F-E869FD3E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Capture once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F1EC9-BFB0-44BA-8F6F-6E6CE05F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Share sheet, camera, gallery, URL, and text 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68EEB9-F0CE-4B20-B547-747FEB97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99450-6033-4B89-BBDA-08871DAA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Enrich later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676AB-BD4D-4442-8A9C-FCBA5188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OCR, readable content, summary, tags, and source metadata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97621-741A-498D-96A9-BB3F4359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71700"/>
            <a:ext cx="2667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1F7295-D0CF-47CE-81D7-757797A3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Recall fast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0BFC9-75B8-4BE6-862E-48692AEF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Search across text, screenshots, source, and time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957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429500" y="288607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47ED21-3B0E-4E2A-9919-026D262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Product promise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4E24A-CC62-4230-9C2B-384A2F84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38700"/>
            <a:ext cx="7762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Save the useful thing now. Find it later without remembering where it came from.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5B11D-40ED-4B52-B519-0E43C71C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2A361-7A97-476F-8816-3B73B811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BD3B42-9B47-4F4E-836D-84562F43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504455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F5B54D-E3DB-4F67-8246-E2591B9B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D92C9-7CC1-44A8-96C4-B75CB027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focused v1 improves credibility by keeping non-core features out.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A7D563-D77E-4C2B-A4DA-0ADCCF3A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34C759"/>
                </a:solidFill>
                <a:latin typeface="Helvetica Neue"/>
                <a:ea typeface="Helvetica Neue"/>
                <a:cs typeface="Helvetica Neue"/>
              </a:rPr>
              <a:t>Included in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FA059-0A13-4AC6-9CBB-7198FC60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52650"/>
            <a:ext cx="4095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 screenshots, links, and text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Local storage and local search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OCR and text extraction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Simple list and item detail view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Delete and export paths for user trust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22771A-0432-4E86-8225-F1BE0D35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3B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3B30"/>
                </a:solidFill>
                <a:latin typeface="Helvetica Neue"/>
                <a:ea typeface="Helvetica Neue"/>
                <a:cs typeface="Helvetica Neue"/>
              </a:rPr>
              <a:t>Excluded from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DE4687-0BD2-4206-9FEB-C2A097E4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265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Task management and reminder systems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Public collections or social feeds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Collaboration-heavy workflows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Full markdown editor</a:t>
            </a:r>
          </a:p>
          <a:p xmlns:a="http://schemas.openxmlformats.org/drawingml/2006/main">
            <a:pPr marL="215900" indent="-101600">
              <a:spcAft>
                <a:spcPts val="800"/>
              </a:spcAft>
              <a:buChar char="•"/>
              <a:def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Chat with notes in 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FF174B-7E5E-47B5-97B3-BC2BECE3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43450"/>
            <a:ext cx="9296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D3CC4-C672-419A-929F-A7A19900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76800"/>
            <a:ext cx="868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guiding rule: if a feature does not improve capture, understanding, or recall, it waits.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E4A644-C4BE-42F5-B469-867709EB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4B83B-DA98-488F-94C3-C73CEF0A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8DF34-FA51-4433-AC5C-20EA6C6B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79446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6176A8-8D48-4749-953B-0F122025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B7917-8401-46DF-A1E8-33EF56C05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Memora has a narrow position between bookmarks, notes, and read-later tools.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2CC76-4F32-4D05-91EF-3E4FD4BA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Category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BDB6A-2329-4B7F-9B3B-F12F4383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Common limitation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F1CBF-835A-4FF1-A42D-849AC2AF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4668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Memora advantage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EB9A1-6083-4AB2-AD69-8784C40F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B7AFEF-2A87-4C9F-A4A4-7F568CB0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Bookmarks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041D1-029F-423F-BB5F-E5BB7AF9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097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Store URLs but lose intent, screenshot text, and later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3879D7-68CC-47C7-86F9-310E7FAE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097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stores the object, context, and searchable extracted text.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5BFA77-D310-4BEB-82BE-8EFD2397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0B8E44-8CDC-4378-A6E2-B43A163C3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337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Notes apps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34352-E6BF-4405-975F-B2A5B55F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9051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Require manual writing, folders, and maintenance.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BCF0F0-024C-41F3-B824-51136581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captures first and organizes in the background.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61F74-8C7E-4254-97D6-69F787C1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4506A0-E089-42BD-B2C6-28804BD3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Read-later tools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FC4331-8905-4B6C-9978-D641840A6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80047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Work best for articles, not mixed mobile captures.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21159-4FB3-4BA1-AA73-2DC8F9D7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0047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supports screenshots, links, text notes, and photos.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8B4F6-1CB8-4275-96A5-6143340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6299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399E8-8E6E-4480-A62C-FB6FEAF9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244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Cloud knowledge bases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4373F7-71DE-450A-9E6F-88546DBF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95825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Assume team workflows and cloud-first storage.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3E9573-5328-41B8-8618-BF74A409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95825"/>
            <a:ext cx="3467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Memora starts as a private, local-first personal memory app.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878B2-B2AD-43E7-8CCE-EAA46277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C2F87-15DF-4211-A888-18CA98DE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0C984-3D72-4300-97D8-637F48B5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52975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BAB2B5-B230-40BF-84EA-263DDA00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77B7FF"/>
                </a:solidFill>
                <a:latin typeface="Helvetica Neue"/>
                <a:ea typeface="Helvetica Neue"/>
                <a:cs typeface="Helvetica Neue"/>
              </a:rPr>
              <a:t>TECHNICAL DEFENSIBILITY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49BCD-3672-43E2-BEF0-04E11C00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704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Architecture and Data Layer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A018B-96AF-40C7-866E-73EF34D6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A useful personal memory product depends on fast capture, reliable offline behavior, and user trust.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7482E-0D08-4714-8A9E-635AAD2E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32235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11506-E258-49C4-8339-70179AC3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Mobile clients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DEA58D-FE29-4948-A2F7-9AF9C0EB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iOS, Android, lightweight web viewer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3EEF9-A7A5-4227-8113-01442C2F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102A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C9C747-2FA8-4C74-A356-ADB3C7DF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Local memory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C4A926-51FA-4961-97E1-3BDB3FD8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Raw content, encrypted tokens, search index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30877-ACB2-4C19-BFFA-D23FBF84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33260A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75C6BC-487F-4405-B498-FF2C3991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Sync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F2C72E-93E2-43C3-BAE7-D81E6311E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Push, pull, merge rules, retry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E1B9F5-1FF2-45AF-B78A-E9945412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90750"/>
            <a:ext cx="2286000" cy="110490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2E182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5DB9C-E970-47EF-B9F4-3F3845EF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362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User-owned cloud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BF4CA-1C8E-4F96-863D-16080E65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7051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Metadata DB and object storage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0480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2455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01100" y="2743200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B697C4-D590-44E0-AE15-46E5FD9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5162550" cy="9144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C2030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42EDD5-26C4-400E-9663-80FF1AA4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572000"/>
            <a:ext cx="478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Processing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AB7CE-AC4D-4A27-9AC3-41956D15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14900"/>
            <a:ext cx="478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OCR, readable link extraction, classification, summary, auto tags</a:t>
            </a:r>
          </a:p>
        </p:txBody>
      </p:sp>
      <p:cxnSp>
        <p:nvCxnSpPr>
          <p:cNvPr id="48" name=""/>
          <p:cNvCxnSpPr>
            <a:stCxn xmlns:a="http://schemas.openxmlformats.org/drawingml/2006/main" id="13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8801100" y="3295650"/>
            <a:ext cx="1733550" cy="1562100"/>
          </a:xfrm>
          <a:prstGeom xmlns:a="http://schemas.openxmlformats.org/drawingml/2006/main" prst="bentConnector5">
            <a:avLst>
              <a:gd name="adj1" fmla="val 0"/>
              <a:gd name="adj2" fmla="val 14634"/>
              <a:gd name="adj3" fmla="val 86813"/>
            </a:avLst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49" name=""/>
          <p:cNvCxnSpPr>
            <a:stCxn xmlns:a="http://schemas.openxmlformats.org/drawingml/2006/main" id="19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3409950" y="3295650"/>
            <a:ext cx="1371600" cy="15621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99FA0-CE15-4BB5-9FB6-1C6BB8A30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233E3A-0EB9-44C5-B911-C6DC9968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290B2D-48F5-4346-A0C4-D8337DA2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213539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0F3D3D-5638-4BD7-B938-530028FA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C8ED41-D1D4-4363-9355-5DBFC9D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product can scale in layers while keeping v1 focused.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9A120-0DC2-43CB-97C4-3EB69773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29D714-58FF-4138-8903-73F43625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4F31A-6329-4F70-907D-EEE550F4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A3206B-8390-4704-BFE0-BC0945B8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MVP 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BFA3D-1D61-4AF1-B857-A861D74D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Auth, item capture, local storage, dashboard, search, settings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BA46F-1CD5-4625-BE61-FA599B91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28C64-9926-42FC-BBFD-F4A4BADD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C75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9C19FF-1013-4CD9-BCDF-91C974C8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06FF7-D318-4CEB-B91C-B77841ADB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Sync and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7A5A96-8ED9-40F9-8128-454179CD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Background sync, pull-to-refresh, conflict UI, retry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2B32A-15A7-4459-8B59-5F964A5A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89C224-4B89-4773-94A9-C5AE6629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F7D58-E94D-4694-BDAC-04EA8F0E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BF801-63AC-4A27-99DE-F7BA878E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AI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127823-F7D9-4BDC-8968-8F5259CB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OCR, summaries, keyword extraction, auto tags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3677DE-E63C-4BD0-A04D-692CDA51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25146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061213-70A7-47C6-84FD-B6D72D0A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62125"/>
            <a:ext cx="2286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3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FB6A53-795A-4D15-82F4-15FDE133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95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Phase 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419443-F10F-4E7C-BD15-96B6BA07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41935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Distribution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E9C31-3BDF-419E-9151-12033175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14650"/>
            <a:ext cx="1809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Share sheet, export, deep links, widget support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E5E850-7469-44B8-8023-17E9553A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00625"/>
            <a:ext cx="9410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 README marks Phase 1 capabilities as built. Investor diligence should confirm product completeness, code quality, and user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EE496-831F-46E3-BFCF-CDD694C70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51A616-4142-4EEA-ADE3-A0846EC5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B9B201-AD5C-4E99-80A3-BF7F6F3A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622280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DCDCE-03DE-4807-ADEA-C1C598AD6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114DEA-CFC9-4EFB-A13C-D06C6327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Monetization should follow trust: keep core capture useful, charge for higher value layers.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2AA7F-E0FC-438D-BDC7-A3F559A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1A06E-DB43-4CE9-A905-D5629861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Free local tier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93205-98C9-4B6C-AF05-6D797F50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Private capture, local search, basic item limits, export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6C04B-0766-4A80-ACF6-6FE6219D8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EAFBF1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0A0AA-7889-42D2-B473-930FB9E9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Paid sync tier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DEBE1-C807-4F04-9624-1EEDDA4B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Cross-device sync, larger storage, backups, priority processing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BF3E35-FCAA-4F14-A756-B701E133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2857500" cy="16192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3BFB77-3ACD-4563-9276-0897E8B0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Advanced AI tier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2F6EE3-CC83-4620-810F-F36EC631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098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Stronger summaries, OCR for larger libraries, related-item discovery</a:t>
            </a:r>
          </a:p>
        </p:txBody>
      </p:sp>
      <p:cxnSp>
        <p:nvCxnSpPr>
          <p:cNvPr id="30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9052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29051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391A3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77726-2B4A-437C-B88C-14F8EC57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48200"/>
            <a:ext cx="941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Pricing is a validation item, not a fixed claim.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C39710-BE40-4BAB-A68B-ED4655CB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124450"/>
            <a:ext cx="849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Early tests should measure willingness to pay for sync, recovery confidence, and search quality before optimizing packaging.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8AAAB-9ADA-4430-9C21-34E3D74F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8BA001-59C9-4EF5-86A4-5DE7E23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88E1C-79C7-4AE8-B7D4-79093826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906601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036E31-39AB-4AD1-B009-ED16A1BC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Go-to-Market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7D4DB-C7E0-46BA-B1F5-7C2E5CF1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A credible launch starts with workflows where saved information already has obvious value.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13F39-4655-4B23-B4B0-DD48332D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FAC83-7F37-4BAF-A682-FB2623E8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33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Founder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62EEB-6FFA-47F5-82C9-846476F6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7240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Competitor screenshots, customer quotes, product references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64024A-6843-4B41-9899-6B6D142A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240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Build examples from real saved libraries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5F45F9-285D-414E-8832-CB342699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C9617-9BA8-40EB-A6EA-79C36B76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Research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A05828-4DB2-427D-9DDF-15FF2D43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384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Articles, papers, charts, reports,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79EE8-F0B2-468F-8738-BDE39842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384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Show OCR and source recall in public demos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8A2DD-CEEF-4F78-B102-AE8769C3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1EA10-18FA-4C07-8708-D67798A7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Professional workflow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33AC0-2649-47B2-9271-3266D90C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5528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Receipts, snippets, posts, useful links from mobile browsing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4A05D-B97B-407C-BC9C-29F6F666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528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Launch with a weekly search challenge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5F9B4-188A-48B1-8396-0B69A0DF4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105537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F7B1B-C7C8-462F-AA29-013CAF96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Builder community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286E6F-C68B-42BF-B20E-6D124EE9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672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Indie hackers, students, analysts, product managers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8E16A9-FD80-4D17-B190-0771D928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67225"/>
            <a:ext cx="3390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Seed beta through build-in-public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A4D13D-99EE-4899-9BDF-0FB19EB8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A743B5-7E67-4DD9-B0F6-12C0ABA8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C1679D-E7EF-4136-9DF6-BF5FC394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663985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05D4C3-99BA-4D97-AFCC-E1F1BDE7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Use of Funds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F1F974-C326-4EA6-8A3A-F3D626ED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Capital should convert the MVP into a measurable beta and app store launch.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6F519-651F-4B40-ACDE-053AE27E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E684FE-CA74-4BC3-84A4-BC2C077A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Product polish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17B7F-D04A-49DB-9591-116CCA7B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Capture reliability, onboarding, search UX, accessibility, and app store readiness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3BD31-7A0A-4F06-BCC1-E549EDA9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954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13240D-051A-4A8F-BCEE-508DB94D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885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Sync and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083A7-005F-4FAE-B922-26FB40D8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479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Cross-device sync, export/delete flows, auth hardening, storage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11DFF-E174-44A3-8776-861843E9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CC59A9-66E2-4ADD-A856-7BA05B70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AI processing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A4F5C5-4AE5-4AEA-84B5-976BE2F6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OCR quality, summary pipeline, tag suggestions, link extraction, local model options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BC9E91-2026-434C-8835-D65970A3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857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4055D-9D8A-444A-901A-2A0AB4B4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A51E18"/>
                </a:solidFill>
                <a:latin typeface="Helvetica Neue"/>
                <a:ea typeface="Helvetica Neue"/>
                <a:cs typeface="Helvetica Neue"/>
              </a:rPr>
              <a:t>Beta growth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224F1-CF87-431C-9CF4-0EA7C33A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69570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Founder and knowledge-worker beta cohorts, usage analytics, interview loop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65AF7-5B29-45EA-B239-F1C05109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38750"/>
            <a:ext cx="9448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Round amount, valuation, and runway assumptions should be inserted before investor circulation.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37C810-1C13-4DD0-93D6-4043333B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69A0F-1527-4D42-A553-4DB6700E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60BCD-5086-4819-916C-6ED8E6D9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047400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68EB3-7146-44F6-A4A5-78A3725E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Next Milestones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0F851-3AE1-476D-8A9C-E036E7E0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781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The next phase should produce evidence investors can diligence.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A34F2C-25A9-493C-BC83-2E9686BB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4FA9E-8276-40E2-8478-C4C83EBD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90 days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51A73-D33C-4233-8D67-ABB08B46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0B4E9C"/>
                </a:solidFill>
                <a:latin typeface="Helvetica Neue"/>
                <a:ea typeface="Helvetica Neue"/>
                <a:cs typeface="Helvetica Neue"/>
              </a:rPr>
              <a:t>Private beta 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EECE1-AD5F-4535-AE72-7C1A4E02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Reliable capture, local search, OCR path, and feedback loop with first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0782D-D874-40AE-AF09-755A53C8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7068B-BEFA-4AFF-8BEE-9112181F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180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FDDF8A-CF2F-4704-B327-2CCD09BF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7C41"/>
                </a:solidFill>
                <a:latin typeface="Helvetica Neue"/>
                <a:ea typeface="Helvetica Neue"/>
                <a:cs typeface="Helvetica Neue"/>
              </a:rPr>
              <a:t>Public app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4BFE62-4DCB-4473-9FCB-3275117B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App store release, paid sync validation, support path, and retention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30FD6D-1175-48A0-B03D-68A532032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299085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F8FAFD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1DCCD-4A2B-4663-AD40-BEEC868F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66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5F6B7A"/>
                </a:solidFill>
                <a:latin typeface="Helvetica Neue"/>
                <a:ea typeface="Helvetica Neue"/>
                <a:cs typeface="Helvetica Neue"/>
              </a:rPr>
              <a:t>Fundable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E582F-A2B1-4689-97EF-16B36E0A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9A6500"/>
                </a:solidFill>
                <a:latin typeface="Helvetica Neue"/>
                <a:ea typeface="Helvetica Neue"/>
                <a:cs typeface="Helvetica Neue"/>
              </a:rPr>
              <a:t>Usage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3FF37-4E83-4272-8023-EFBCFF0D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81350"/>
            <a:ext cx="2362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2B3440"/>
                </a:solidFill>
                <a:latin typeface="Helvetica Neue"/>
                <a:ea typeface="Helvetica Neue"/>
                <a:cs typeface="Helvetica Neue"/>
              </a:rPr>
              <a:t>Activation, weekly repeat saves, search success, paid intent, and privacy trust signals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4219E-E121-4E67-B5D7-DB51279A8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29200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This pitch should be paired with a live product demo and a short metric sheet once beta usage begins.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DFF74F-503E-4622-979E-5859B6AF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9A74EA-42B6-4AE8-B5BD-F90DBC8A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8E094A-7239-46C3-8B28-B0691247B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728092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987325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507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3c28f7f6d4824"/>
          <a:srcRect xmlns:a="http://schemas.openxmlformats.org/drawingml/2006/main" l="25299" t="0" r="252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0"/>
            <a:ext cx="60198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8A324C-D0D5-4EB9-AAAF-76EE65B3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70C">
              <a:alpha val="66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D5510-D30A-4474-BE5C-19B3ACE6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Funding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8EC86F-FBDA-4CBE-A471-29453721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81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Help move Memora from focused MVP to measurable beta.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C0D5F4-A857-4F45-8301-68FEA8F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5429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Finish the app store-ready mobile experience.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Validate sync and AI as paid value layers.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Build evidence around activation, recall success, and retention.</a:t>
            </a:r>
          </a:p>
          <a:p xmlns:a="http://schemas.openxmlformats.org/drawingml/2006/main">
            <a:pPr marL="215900" indent="-101600">
              <a:spcAft>
                <a:spcPts val="900"/>
              </a:spcAft>
              <a:buChar char="•"/>
              <a:def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DDE6F3"/>
                </a:solidFill>
                <a:latin typeface="Helvetica Neue"/>
                <a:ea typeface="Helvetica Neue"/>
                <a:cs typeface="Helvetica Neue"/>
              </a:rPr>
              <a:t>Insert round amount and terms before external circulation.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45CDD-5E8B-47FD-B5A7-7D14AB71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9810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FFFFF">
                <a:alpha val="18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A2CEB-C691-4409-9FEF-60BA150B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Memora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305BD-0F41-4C04-985F-15A86810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55320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C9D1DA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87251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2026-09-05T06:36:09.1060000Z</dcterms:created>
  <dcterms:modified xsi:type="dcterms:W3CDTF">2026-09-05T06:36:09.1060000Z</dcterms:modified>
</coreProperties>
</file>