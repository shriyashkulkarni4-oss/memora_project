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0a5f3574094ce6" /><Relationship Type="http://schemas.openxmlformats.org/officeDocument/2006/relationships/extended-properties" Target="/docProps/app.xml" Id="R131c59ef2c50426f" /><Relationship Type="http://schemas.openxmlformats.org/officeDocument/2006/relationships/officeDocument" Target="/ppt/presentation.xml" Id="Rb1117bdb2ad443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4a306d31ca4a48"/>
  </p:sldMasterIdLst>
  <p:notesMasterIdLst>
    <p:notesMasterId xmlns:r="http://schemas.openxmlformats.org/officeDocument/2006/relationships" r:id="Rbbd64c2126454c37"/>
  </p:notesMasterIdLst>
  <p:sldIdLst>
    <p:sldId xmlns:r="http://schemas.openxmlformats.org/officeDocument/2006/relationships" id="256" r:id="R17075fb9d4c64355"/>
    <p:sldId xmlns:r="http://schemas.openxmlformats.org/officeDocument/2006/relationships" id="257" r:id="R47c10e5c01754aaa"/>
    <p:sldId xmlns:r="http://schemas.openxmlformats.org/officeDocument/2006/relationships" id="258" r:id="Rf19dd4c033134e23"/>
    <p:sldId xmlns:r="http://schemas.openxmlformats.org/officeDocument/2006/relationships" id="259" r:id="R95145e646cd24056"/>
    <p:sldId xmlns:r="http://schemas.openxmlformats.org/officeDocument/2006/relationships" id="260" r:id="R3f100285083d4016"/>
    <p:sldId xmlns:r="http://schemas.openxmlformats.org/officeDocument/2006/relationships" id="261" r:id="R664023c847854d97"/>
    <p:sldId xmlns:r="http://schemas.openxmlformats.org/officeDocument/2006/relationships" id="262" r:id="R952d7c1dd4a64a7c"/>
    <p:sldId xmlns:r="http://schemas.openxmlformats.org/officeDocument/2006/relationships" id="263" r:id="Re5b822c938bb4da5"/>
    <p:sldId xmlns:r="http://schemas.openxmlformats.org/officeDocument/2006/relationships" id="264" r:id="R70e4cd7686d24127"/>
    <p:sldId xmlns:r="http://schemas.openxmlformats.org/officeDocument/2006/relationships" id="265" r:id="R07c88359c497419e"/>
    <p:sldId xmlns:r="http://schemas.openxmlformats.org/officeDocument/2006/relationships" id="266" r:id="R0bf7011b64124eb4"/>
    <p:sldId xmlns:r="http://schemas.openxmlformats.org/officeDocument/2006/relationships" id="267" r:id="Re5a81437885e4e5f"/>
    <p:sldId xmlns:r="http://schemas.openxmlformats.org/officeDocument/2006/relationships" id="268" r:id="R1c3438dfbbf444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73885263dd4a22" /><Relationship Type="http://schemas.openxmlformats.org/officeDocument/2006/relationships/slideMaster" Target="/ppt/slideMasters/slideMaster1.xml" Id="R814a306d31ca4a48" /><Relationship Type="http://schemas.openxmlformats.org/officeDocument/2006/relationships/notesMaster" Target="/ppt/notesMasters/notesMaster1.xml" Id="Rbbd64c2126454c37" /><Relationship Type="http://schemas.openxmlformats.org/officeDocument/2006/relationships/presProps" Target="/ppt/presProps.xml" Id="R2272fa1da5324a33" /><Relationship Type="http://schemas.openxmlformats.org/officeDocument/2006/relationships/tableStyles" Target="/ppt/tableStyles.xml" Id="R08648ffcb54748d2" /><Relationship Type="http://schemas.openxmlformats.org/officeDocument/2006/relationships/slide" Target="/ppt/slides/slide1.xml" Id="R17075fb9d4c64355" /><Relationship Type="http://schemas.openxmlformats.org/officeDocument/2006/relationships/slide" Target="/ppt/slides/slide2.xml" Id="R47c10e5c01754aaa" /><Relationship Type="http://schemas.openxmlformats.org/officeDocument/2006/relationships/slide" Target="/ppt/slides/slide3.xml" Id="Rf19dd4c033134e23" /><Relationship Type="http://schemas.openxmlformats.org/officeDocument/2006/relationships/slide" Target="/ppt/slides/slide4.xml" Id="R95145e646cd24056" /><Relationship Type="http://schemas.openxmlformats.org/officeDocument/2006/relationships/slide" Target="/ppt/slides/slide5.xml" Id="R3f100285083d4016" /><Relationship Type="http://schemas.openxmlformats.org/officeDocument/2006/relationships/slide" Target="/ppt/slides/slide6.xml" Id="R664023c847854d97" /><Relationship Type="http://schemas.openxmlformats.org/officeDocument/2006/relationships/slide" Target="/ppt/slides/slide7.xml" Id="R952d7c1dd4a64a7c" /><Relationship Type="http://schemas.openxmlformats.org/officeDocument/2006/relationships/slide" Target="/ppt/slides/slide8.xml" Id="Re5b822c938bb4da5" /><Relationship Type="http://schemas.openxmlformats.org/officeDocument/2006/relationships/slide" Target="/ppt/slides/slide9.xml" Id="R70e4cd7686d24127" /><Relationship Type="http://schemas.openxmlformats.org/officeDocument/2006/relationships/slide" Target="/ppt/slides/slide10.xml" Id="R07c88359c497419e" /><Relationship Type="http://schemas.openxmlformats.org/officeDocument/2006/relationships/slide" Target="/ppt/slides/slide11.xml" Id="R0bf7011b64124eb4" /><Relationship Type="http://schemas.openxmlformats.org/officeDocument/2006/relationships/slide" Target="/ppt/slides/slide12.xml" Id="Re5a81437885e4e5f" /><Relationship Type="http://schemas.openxmlformats.org/officeDocument/2006/relationships/slide" Target="/ppt/slides/slide13.xml" Id="R1c3438dfbbf444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929ddca36c4c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3dce8781034baa" /><Relationship Type="http://schemas.openxmlformats.org/officeDocument/2006/relationships/notesMaster" Target="/ppt/notesMasters/notesMaster1.xml" Id="R23028f2d309142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c5416e2664483a" /><Relationship Type="http://schemas.openxmlformats.org/officeDocument/2006/relationships/notesMaster" Target="/ppt/notesMasters/notesMaster1.xml" Id="R30bab87defab44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775c4c519846d5" /><Relationship Type="http://schemas.openxmlformats.org/officeDocument/2006/relationships/notesMaster" Target="/ppt/notesMasters/notesMaster1.xml" Id="Rba8c332a426b45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23984286a14004" /><Relationship Type="http://schemas.openxmlformats.org/officeDocument/2006/relationships/notesMaster" Target="/ppt/notesMasters/notesMaster1.xml" Id="Rcea824346b874e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73b9c9beb54c13" /><Relationship Type="http://schemas.openxmlformats.org/officeDocument/2006/relationships/notesMaster" Target="/ppt/notesMasters/notesMaster1.xml" Id="Re1bb0744fdae43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cc325cadac4b7c" /><Relationship Type="http://schemas.openxmlformats.org/officeDocument/2006/relationships/notesMaster" Target="/ppt/notesMasters/notesMaster1.xml" Id="R921718db70724f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71ae2d6b034c57" /><Relationship Type="http://schemas.openxmlformats.org/officeDocument/2006/relationships/notesMaster" Target="/ppt/notesMasters/notesMaster1.xml" Id="R1ce9a3f4aba742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21510679c448e8" /><Relationship Type="http://schemas.openxmlformats.org/officeDocument/2006/relationships/notesMaster" Target="/ppt/notesMasters/notesMaster1.xml" Id="R88b2ca9eda0a49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5411e650d647fa" /><Relationship Type="http://schemas.openxmlformats.org/officeDocument/2006/relationships/notesMaster" Target="/ppt/notesMasters/notesMaster1.xml" Id="Radc7233cbf8e4c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cc72c8af084f99" /><Relationship Type="http://schemas.openxmlformats.org/officeDocument/2006/relationships/notesMaster" Target="/ppt/notesMasters/notesMaster1.xml" Id="R7e863dfb89b745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3a6c1530834ee1" /><Relationship Type="http://schemas.openxmlformats.org/officeDocument/2006/relationships/notesMaster" Target="/ppt/notesMasters/notesMaster1.xml" Id="Rfbfd89c629c345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b5b3d700214ca8" /><Relationship Type="http://schemas.openxmlformats.org/officeDocument/2006/relationships/notesMaster" Target="/ppt/notesMasters/notesMaster1.xml" Id="R40a1fe6e4baf4c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5f8c91663e41dc" /><Relationship Type="http://schemas.openxmlformats.org/officeDocument/2006/relationships/notesMaster" Target="/ppt/notesMasters/notesMaster1.xml" Id="Rc9a1ffd0d85a4e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Generated cover visual created for this pitch package. No external market claims used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Problem statement from MEMORYHIVE_REQUIREMENTS.md section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Target and non-target users from MEMORYHIVE_REQUIREMENTS.md section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Product concept from MEMORYHIVE_REQUIREMENTS.md product summary and core use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MVP and non-goals from MEMORYHIVE_REQUIREMENTS.md sections 9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Positioning is inferred from the PRD problem statement, principles, and non-goals. Competitive claims are category-level hypotheses to validate.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Architecture from MEMORA_README.md and MEMORYHIVE_REQUIREMENTS.md sections 7, 10, and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Roadmap from MEMORA_README.md. Status should be validated against the current app before external fundraising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Monetization direction from MEMORYHIVE_REQUIREMENTS.md section 12. Specific prices were not provided.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Go-to-market motions are recommendations derived from the target users in the PRD. No external traction data was provided.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Funding allocation is a proposed use of funds. The source materials did not include round size or financial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Milestones are proposed planning targets for fundraising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Ask slide contains a placeholder because round size and terms were not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fe59896a5647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79bd71915f4f08" /><Relationship Type="http://schemas.openxmlformats.org/officeDocument/2006/relationships/slideLayout" Target="/ppt/slideLayouts/slideLayout1.xml" Id="R54330d8f524e4e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330d8f524e4e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f67c1311248de" /><Relationship Type="http://schemas.openxmlformats.org/officeDocument/2006/relationships/image" Target="/ppt/media/image.png" Id="R39fa7d9a386849b3" /><Relationship Type="http://schemas.openxmlformats.org/officeDocument/2006/relationships/notesSlide" Target="/ppt/notesSlides/notesSlide1.xml" Id="R1a97c3673b6e49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67ef37d4f4201" /><Relationship Type="http://schemas.openxmlformats.org/officeDocument/2006/relationships/notesSlide" Target="/ppt/notesSlides/notesSlide2.xml" Id="Re0ccea22c3cf45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d96c41da94893" /><Relationship Type="http://schemas.openxmlformats.org/officeDocument/2006/relationships/notesSlide" Target="/ppt/notesSlides/notesSlide3.xml" Id="R301430fd8fde42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fa713c8804398" /><Relationship Type="http://schemas.openxmlformats.org/officeDocument/2006/relationships/notesSlide" Target="/ppt/notesSlides/notesSlide4.xml" Id="Rbaf337c6341045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083e6193f4187" /><Relationship Type="http://schemas.openxmlformats.org/officeDocument/2006/relationships/notesSlide" Target="/ppt/notesSlides/notesSlide5.xml" Id="R1f9b8d6cb7b843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b127cd2bd43d9" /><Relationship Type="http://schemas.openxmlformats.org/officeDocument/2006/relationships/notesSlide" Target="/ppt/notesSlides/notesSlide6.xml" Id="R29b1daa4abf445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f9508522d4e65" /><Relationship Type="http://schemas.openxmlformats.org/officeDocument/2006/relationships/notesSlide" Target="/ppt/notesSlides/notesSlide7.xml" Id="R9cbe70a1c5cd43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e2a08230f4049" /><Relationship Type="http://schemas.openxmlformats.org/officeDocument/2006/relationships/notesSlide" Target="/ppt/notesSlides/notesSlide8.xml" Id="R85c900aa818341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4a0f6046c4325" /><Relationship Type="http://schemas.openxmlformats.org/officeDocument/2006/relationships/notesSlide" Target="/ppt/notesSlides/notesSlide9.xml" Id="Ra4811115eaf944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5926583a2499d" /><Relationship Type="http://schemas.openxmlformats.org/officeDocument/2006/relationships/notesSlide" Target="/ppt/notesSlides/notesSlide10.xml" Id="Re986bd8e6fca41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1f51fd1a340dd" /><Relationship Type="http://schemas.openxmlformats.org/officeDocument/2006/relationships/notesSlide" Target="/ppt/notesSlides/notesSlide11.xml" Id="R88217b422e374b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3dfafbb5f459a" /><Relationship Type="http://schemas.openxmlformats.org/officeDocument/2006/relationships/notesSlide" Target="/ppt/notesSlides/notesSlide12.xml" Id="Rbade5b07d01347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8fe0d4a394215" /><Relationship Type="http://schemas.openxmlformats.org/officeDocument/2006/relationships/image" Target="/ppt/media/image2.png" Id="Rdc52cc80fdb04936" /><Relationship Type="http://schemas.openxmlformats.org/officeDocument/2006/relationships/notesSlide" Target="/ppt/notesSlides/notesSlide13.xml" Id="R1a77896caca648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a7d9a386849b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E936E-7D3D-40A2-B13D-34D95B20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C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93A28-E64F-427A-AAEB-D4CEE1BD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Investor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43299-B8B9-4265-9C2B-F47E3E41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191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0D55D-171A-4F6E-9230-5CACD614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 mobile-first app for capturing and recalling the useful information people save across their 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D755E-53AC-4F40-9732-5F7EA468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C7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B38E3-D8A5-4956-B526-58B80941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Prepared for Coding Monkey Labs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4B832-829A-4F64-81B9-1D5C608E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9287211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3CB44-521D-48FD-9C79-CF39DC98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Digital Recall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89FB0-0670-4E2C-9C7F-1F336E44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The internet gives people more useful information than their current tools can recover later.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22ADC-6C66-446F-9872-FFF88661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953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B1B3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150BE-2F8A-42CD-BB83-DC434ABC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4953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BEE64-F354-4F21-8179-DE6B8002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Users already save the signal.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AEC22-084E-4B53-8075-33399355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400"/>
              </a:spcAft>
              <a:buChar char="•"/>
              <a:defRPr sz="127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Screenshots of posts, charts, receipts, ideas, and references</a:t>
            </a:r>
          </a:p>
          <a:p xmlns:a="http://schemas.openxmlformats.org/drawingml/2006/main">
            <a:pPr marL="215900" indent="-101600">
              <a:spcAft>
                <a:spcPts val="400"/>
              </a:spcAft>
              <a:buChar char="•"/>
              <a:defRPr sz="127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Article links, social posts, videos, and research sources</a:t>
            </a:r>
          </a:p>
          <a:p xmlns:a="http://schemas.openxmlformats.org/drawingml/2006/main">
            <a:pPr marL="215900" indent="-101600">
              <a:spcAft>
                <a:spcPts val="400"/>
              </a:spcAft>
              <a:buChar char="•"/>
              <a:defRPr sz="127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Short notes copied from conversations and browsing sessions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033FE-0133-463E-9675-091DF4FA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0500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The saved material does not become useful memory.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60435-9788-4F03-81ED-D764A1C3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13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400"/>
              </a:spcAft>
              <a:buChar char="•"/>
              <a:defRPr sz="127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Screenshots remain invisible to normal search</a:t>
            </a:r>
          </a:p>
          <a:p xmlns:a="http://schemas.openxmlformats.org/drawingml/2006/main">
            <a:pPr marL="215900" indent="-101600">
              <a:spcAft>
                <a:spcPts val="400"/>
              </a:spcAft>
              <a:buChar char="•"/>
              <a:defRPr sz="127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Bookmarks lack context and decay into long lists</a:t>
            </a:r>
          </a:p>
          <a:p xmlns:a="http://schemas.openxmlformats.org/drawingml/2006/main">
            <a:pPr marL="215900" indent="-101600">
              <a:spcAft>
                <a:spcPts val="400"/>
              </a:spcAft>
              <a:buChar char="•"/>
              <a:defRPr sz="127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Notes require effort exactly when the user wants speed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A61F6-EE29-4130-B6F7-DAF9D7F4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10100"/>
            <a:ext cx="9296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71121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3F920-C2B8-4993-AC35-B8023133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7202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Memora's wedge is the gap between capture and recall.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1482A-2DF5-4B32-B08E-CAC3AF2D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E876D-3DC8-48A0-AADB-242AADDD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5348D-33D5-4AE9-8CEE-1981356B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944104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F39F7C-15F1-41B7-B6E5-3B69394F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Target Customer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DCA3A-9A47-4B51-A4E6-5E68035A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Start with heavy mobile savers who feel the pain weekly.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5DEEA-B28E-4F4E-A6AF-7A265650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1B3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56BFD-6FA6-46BB-892A-ADA89A98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Knowledge workers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B0B27-00B7-479E-8B81-9EDBD093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Save screenshots and links during work, then need them in meetings or analysis.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0DAFF-57AB-4923-9F4B-E359380B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211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3DE04-5F5F-4E44-87E4-F75B94D7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47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rPr>
              <a:t>Founders and builders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32364-8DD6-4155-AD19-D6A7E826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Collect product references, competitor examples, and customer signals.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8C7A5-E289-4ECB-AADE-2018B08B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1B3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ACF46-9883-49FB-987E-42A3125A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Researchers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A8E1E-F461-4251-AAC5-A0800375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Capture articles, papers, charts, and sources across mobile workflows.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97663-0443-4341-B83A-96D9EA11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211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4ED3D-95FB-4149-9D35-97178B72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52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rPr>
              <a:t>Curious professionals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D86BF1-4695-4DC1-9245-3BDCEAA1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Build a personal library of ideas without wanting a complex note system.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D99EB-27BD-42AB-BC0C-3898674F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6255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Non-target users clarify focus: Memora should avoid project management, social collaboration, reminders, and folder-heavy workflows in v1.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53BE90-3FD5-499E-8A63-81F76084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02DD3-D7CF-4B99-9ED1-C6775983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C4931-C652-45F6-8C26-EB83C9AD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756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36D88B-A87B-41D9-A622-34A8D4B0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Product Wedge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11F17-BA70-4A09-8CC2-DF424761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One-tap capture creates the habit. Searchable recall creates retention.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8850D-04CE-40A0-8368-AF653972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2667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B3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1E518-3D96-4529-8F83-67572790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Capture once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73CF8-795D-4B03-9C69-9CE8EDF6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Share sheet, camera, gallery, URL, and text intake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4D0C9-C75C-4FC2-A4F1-A8BB76EF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667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211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643B8-748B-4065-8B58-37CE612F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rPr>
              <a:t>Enrich later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76A9B-D71E-4A82-8A52-73759FBF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0510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OCR, readable content, summary, tags, and source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B0E69-A19F-4BD4-89A3-A9C862F6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71700"/>
            <a:ext cx="2667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A2109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13EB0-0EA3-4644-AA24-1792218F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Recall fast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3F755-2464-4CE9-9CD2-49A0E5C8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0510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Search across text, screenshots, source, and time</a:t>
            </a:r>
          </a:p>
        </p:txBody>
      </p: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95700" y="288607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29500" y="288607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C5C1E-2DCD-4B43-B190-810FFE06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Product promise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E8FB7-1205-45EE-83F5-B844F790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7762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Save the useful thing now. Find it later without remembering where it came from.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E6B12-5244-47B9-8E06-D578A70F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52F352-D724-4FB5-9897-2885E086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005D7-98C6-4BC5-B9BA-AEE1A018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0662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5C648-26B0-4F0F-8167-633CE691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MVP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5F160-82A4-4055-8617-E4F6F88C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A focused v1 improves credibility by keeping non-core features 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C5034-93DC-45E5-B5C5-91E99117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47434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B211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812D7-684D-41D7-973F-FAB89E76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81150"/>
            <a:ext cx="47434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2B1015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9BDCC-31BB-482C-B71B-E7F4E5D2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66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rPr>
              <a:t>Included in 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DB7E1-D4C0-49B9-AEDC-3EDF9DE7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0030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Capture screenshots, links, and text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Local storage and local search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OCR and text extraction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Simple list and item detail view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Delete and export paths for user trust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760BD-DBB3-42B0-9733-76319DAD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66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8A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8A80"/>
                </a:solidFill>
                <a:latin typeface="Helvetica Neue"/>
                <a:ea typeface="Helvetica Neue"/>
                <a:cs typeface="Helvetica Neue"/>
              </a:rPr>
              <a:t>Excluded from 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5C783-8D3D-4650-BD60-38B2BB92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0030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Task management and reminder systems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Public collections or social feeds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Collaboration-heavy workflows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Full markdown editor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Chat with notes in v1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70240-FC6F-401B-A3FC-A8E5EF71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62500"/>
            <a:ext cx="9296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24D8A-FD3A-4B9E-8254-2A10F53F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95850"/>
            <a:ext cx="868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The guiding rule: if a feature does not improve capture, understanding, or recall, it waits.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5C02B-1D5D-4FF1-B72C-C5E1A626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06553-66EE-48B5-983E-4F8DAAE8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F305F-CC3F-49A4-A310-0BB6F76A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078151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8B26A3-481F-4648-92EA-440B5D7B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F870B-1DC3-4809-97B5-EA02BDF5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Memora has a narrow position between bookmarks, notes, and read-later tools.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85B75-74C6-4B65-BCA8-4BFDAE98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Category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6A461-A79B-48C8-88E7-D216F565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668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Common limitation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365CC-2FAA-4687-AC2F-A74A4371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668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Memora advantage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64C40-D117-499C-9A48-65BBEE94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629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CCAE0-60E7-43AB-A842-843E3768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Bookmarks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E0913-2C7E-4304-B91B-A2DACD24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097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Store URLs but lose intent, screenshot text, and later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F5F26-C3F8-4FDA-9E7D-675C59A5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97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Memora stores the object, context, and searchable extracted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9EEEF-7A1B-4E37-8E3D-A4AB1070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10629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73361-4A4D-4E70-899A-2A2BCF73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Notes apps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5EBDE-DFF7-4D28-902A-6C6027BB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051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Require manual writing, folders, and maintenance.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B80CE-74EE-4EEF-BBDC-E3EB0497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Memora captures first and organizes in the background.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5A488-1125-4C6E-8BB4-F7E527B0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0629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D44FB-DE92-47B0-B29B-D7EB7F20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Read-later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4C813-7468-483C-838F-E8BEA94A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004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Work best for articles, not mixed mobile captures.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A1506-C903-45CF-8DCE-2374973A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004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Memora supports screenshots, links, text notes, and photos.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07F18-945B-4EB0-A5B9-5CB26FA0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629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B5099-0DAC-413E-8F61-8F077B17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Cloud knowledge bases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A3A724-D032-43EB-862A-2292D0F2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958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Assume team workflows and cloud-first storage.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9D832E-1CF0-4307-B308-1855CC80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9582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Memora starts as a private, local-first personal memory app.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D1960D-92AA-401D-AF57-78DCF64D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1FFF11-A218-4534-83A3-D6AF3314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64D73F-7DF9-4F94-9D9A-D2E21F89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72232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5605C6-5713-4548-BBA7-CF50BF71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TECHNICAL DEFENSIBILITY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1E41F-EB21-49E5-A1E8-18E32A3E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Architecture and Data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E2AE4-C8D4-47F4-8FFA-EE583E4C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A useful personal memory product depends on fast capture, reliable offline behavior, and user trust.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4E737-AD42-4955-BCCE-7472F059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0B1B3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18F71-E08C-47D3-AFD6-7B0A48C9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Mobile clients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80BD2-A976-423D-BBDF-ED366CF9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iOS, Android, lightweight web viewer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63361-6986-463F-BCB1-0CCFC08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0B211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D50BB-0FCD-40B4-8B23-56E90544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62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rPr>
              <a:t>Local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1A58C-D2FB-4728-87BE-F6ADCB3E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241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Raw content, encrypted tokens, search index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EF46E-397D-46F5-8AC2-BB319C4A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2A2109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5CA51-A821-453F-8EB0-76FF5C7E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Sync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BE0B3-FFF0-41BC-ADBD-7ED18D1D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Push, pull, merge rules, retry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8CC92-7ABE-4E80-AE37-4FF25BB0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2B1015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81B42-3F7A-402F-A8A3-D2D98831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62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8A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8A80"/>
                </a:solidFill>
                <a:latin typeface="Helvetica Neue"/>
                <a:ea typeface="Helvetica Neue"/>
                <a:cs typeface="Helvetica Neue"/>
              </a:rPr>
              <a:t>User-owned cloud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7B91C-0174-4A79-AFD9-E90DB9A2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241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Metadata DB and object storage</a:t>
            </a:r>
          </a:p>
        </p:txBody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48000" y="27432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24550" y="27432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01100" y="27432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4C66C0-1786-49DF-960C-AB5F2EA7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00550"/>
            <a:ext cx="51625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071F31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3A8A0C-2657-43B4-BF03-00EE55C4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Processing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5DFBF6-9D17-4D89-BCAE-6F6FD155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339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OCR, readable link extraction, classification, summary, auto tags</a:t>
            </a:r>
          </a:p>
        </p:txBody>
      </p:sp>
      <p:cxnSp>
        <p:nvCxnSpPr>
          <p:cNvPr id="48" name=""/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801100" y="3295650"/>
            <a:ext cx="1733550" cy="1562100"/>
          </a:xfrm>
          <a:prstGeom xmlns:a="http://schemas.openxmlformats.org/drawingml/2006/main" prst="bentConnector5">
            <a:avLst>
              <a:gd name="adj1" fmla="val 0"/>
              <a:gd name="adj2" fmla="val 14634"/>
              <a:gd name="adj3" fmla="val 86813"/>
            </a:avLst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9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409950" y="3295650"/>
            <a:ext cx="1371600" cy="15621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5EFDE-8C26-40D3-9C25-A2F3DCA1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E284A8-0C1A-4F08-B316-7F1A18CB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8CA0E8-EE7E-45E7-95FA-3A421ECE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450157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1210ED-B5E8-4E02-8988-40328C40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647BD-A86A-4082-9183-CE53A32A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The product can scale in layers while keeping v1 focused.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41244-0656-4C49-8C04-C14F0A81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4E8C4-4DD0-4542-A43D-8026735C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D55B5-BD3A-4E20-8055-9C98A532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Phase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0CD27-80AB-44F3-95FA-6DB28850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MVP 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2FA35-F0C5-4E0A-BB6A-226D9FD9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Auth, item capture, local storage, dashboard, search, settings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5D834-72B9-48B4-9167-72FA0FB3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25344-AF26-4B8E-8404-CE4A8B1E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9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B7D22-EC91-4359-896D-CEF45E09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Phase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4FE37-A3F1-4DE6-ACA3-F06CAF40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1935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rPr>
              <a:t>Sync and polish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3CADE-E8B6-48CB-AC37-2D6CD07D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051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Background sync, pull-to-refresh, conflict UI, retry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024D4-A9DA-4707-A7BF-8858C6CD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AD131-342A-49AA-9E1F-63FFD2CD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3BA46-28CC-4C56-8C98-2F38498D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Phase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E2D85-1F03-4289-A676-F15EE781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AI integration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F9492D-BCC4-44F9-BD9B-3C5E19C2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051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OCR, summaries, keyword extraction, auto tags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480C9-9FDA-4A99-9536-66A2BD2C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66E39-EFBE-4EA7-8E7E-823ED73A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18845C-AB13-415D-8D7E-29CD0C5C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Phase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D380A-5E4C-4C7B-A5F1-E2C4419A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1935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8A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8A80"/>
                </a:solidFill>
                <a:latin typeface="Helvetica Neue"/>
                <a:ea typeface="Helvetica Neue"/>
                <a:cs typeface="Helvetica Neue"/>
              </a:rPr>
              <a:t>Distribution 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FCEDF-41BF-49EB-81B7-E8BAC098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051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Share sheet, export, deep links, widget 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6C4224-295C-4911-8BD0-23525C6E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00625"/>
            <a:ext cx="941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The README marks Phase 1 capabilities as built. Investor diligence should confirm product completeness, code quality, and user readiness.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434772-7EBE-40DF-87DC-94A37C3A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1BE5B0-8982-4FCB-B26B-99491EAC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3B821D-93AF-4DC6-BF94-2A2531AE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153149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EB3D1-A027-4A6C-AA17-0069D899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75F87-BA39-4466-9F80-FF0F0C46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Monetization should follow trust: keep core capture useful, charge for higher value layers.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7A30A-DBCF-4034-9F75-B822FAF4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8575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B1B3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86187-22E4-4EEB-B8AC-2E88A884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Free local tier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2D218-FCF6-4455-9B4B-8AE963FF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28900"/>
            <a:ext cx="247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Private capture, local search, basic item limits,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380E5-C3C3-4214-A8E2-DB902722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B211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B667A-BD67-466B-8DED-1C8F0657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rPr>
              <a:t>Paid sync tier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66244-C3F7-4D0A-8E24-0E10B2DA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28900"/>
            <a:ext cx="247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Cross-device sync, larger storage, backups, priority 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3B4E7-A909-4651-8CC8-DCD467FD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8575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A2109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5E5B0-60AA-447E-B259-82D27AFA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Advanced AI tier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BC008-94F2-4EDD-8ECC-69797776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247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Stronger summaries, OCR for larger libraries, related-item discovery</a:t>
            </a:r>
          </a:p>
        </p:txBody>
      </p: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05250" y="2905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24750" y="2905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D2F6B-98FD-4EB2-8373-7E197412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48200"/>
            <a:ext cx="941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Pricing remains a validation item before packaging decisions.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44E8E-FF54-4606-94F0-471A39D1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24450"/>
            <a:ext cx="849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Early tests should measure willingness to pay for sync, recovery confidence, and search quality before optimizing packaging.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C1F9E-7A18-4E9B-8931-04E149E6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F0D2C-5CEE-4B3B-8B32-A594354C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35784F-0B1A-44EC-949A-B709E7C8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41271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0861D9-751B-43A8-9413-78BEF551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A43C6-7AC2-4717-9974-7A2BE49A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A credible launch starts with workflows where saved information already has obvious value.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8A972-6AA4-48A2-9AE0-9006DEF9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10553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3C2F4-2692-4C39-85C2-FFD8C3BB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430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Founder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1D1E2-D7B2-47BC-AEFA-54B88862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33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Competitor screenshots, customer quotes, product references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ECD42-87F7-421C-915D-3391E006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33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Build examples from real saved libraries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060CA-C471-4633-AB50-BA034B22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FDFAE-CCF1-41B2-ABDC-8686B6F4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574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rPr>
              <a:t>Research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1B0F2-38CB-4930-BA8A-D838F705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47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Articles, papers, charts, reports, source links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DCB8B-928B-482A-9538-840C32BA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Show OCR and source recall in public 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7BFBE-C6C9-41AE-8C96-387A8738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0553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8C02D-9FF2-4BA5-9395-316A6748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718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Professional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32E0C-F7B2-42F7-906B-D8D59422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62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Receipts, snippets, posts, useful links from mobile browsing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B8B41-E802-4A26-94A7-6EC43F41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62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Launch with a weekly search challenge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F68113-EFCE-4ADD-B416-74B4619D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553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7F0757-AEC8-43D7-8F77-75F1C0EC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862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8A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8A80"/>
                </a:solidFill>
                <a:latin typeface="Helvetica Neue"/>
                <a:ea typeface="Helvetica Neue"/>
                <a:cs typeface="Helvetica Neue"/>
              </a:rPr>
              <a:t>Builder community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67E6A5-B167-42F2-9F8C-75EC3BCE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76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Indie hackers, students, analysts, product managers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7B38DF-FDD8-4463-87D9-6AE81375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Seed beta through build-in-public updates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071870-876B-4D37-B048-231141E7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A0DA0D-8902-4C3E-80D5-27874619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CA60A8-A52C-41CD-844D-E1A0DE4B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832655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F7E3B-DE6A-4F36-8720-D874B7D0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Use of Funds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565FD-691E-4125-8F0A-2ED8C321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Capital should convert the MVP into a measurable beta and app store launch.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11D51-907E-46DD-B4BB-CBF76BB8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5E004-8E6F-425B-8E33-5C6AE4DE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Product polish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A5D36-7BF6-4939-AEEA-047DF58B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Capture reliability, onboarding, search UX, accessibility, and app store readiness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740DB-8A81-4CD9-9320-92540D0A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50EFD-091B-4061-9882-5C158D93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85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rPr>
              <a:t>Sync and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CDD51-139D-4057-A091-A8849121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Cross-device sync, export/delete flows, auth hardening, storage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0FDA4-D67E-4ED5-8E52-280EB25F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3EC02-EEB0-4A6F-AB7C-89153B52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AI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6E1AB-2525-4E2B-AC63-15E76DA6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OCR quality, summary pipeline, tag suggestions, link extraction, local model options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EE123-8B9B-4216-850B-3A3EBB21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800F49-F629-4D26-8165-45AFFA60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8A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8A80"/>
                </a:solidFill>
                <a:latin typeface="Helvetica Neue"/>
                <a:ea typeface="Helvetica Neue"/>
                <a:cs typeface="Helvetica Neue"/>
              </a:rPr>
              <a:t>Beta growth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84B59-169B-4FA6-92DC-D579528C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95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Founder and knowledge-worker beta cohorts, usage analytics, interview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6C0A6-A20F-403F-8D64-2D7B52B2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38750"/>
            <a:ext cx="944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Round amount, valuation, and runway assumptions should be inserted before investor circulation.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7FA6D-CB9F-415E-8CC6-C7434089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6CC2C3-AEBF-4896-90B8-9E01F742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10A14D-F110-4FD6-ABC8-F5C5E710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7642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EB29D-007D-4B6F-A6D8-1BA8FBFC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Next 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EFE7A-FCB7-4560-A54B-A56F38D4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The next phase should produce evidence investors can diligence.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33A87-EF09-4077-AE0B-55B20745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990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A8125-4E5C-4812-B2B3-C601E8DD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90 days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62F3E-56E3-4F12-A621-92CFF9B5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Private beta 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5F842-8159-48BA-80D9-A9C3ECF6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Reliable capture, local search, OCR path, and feedback loop with first 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49A7E-4091-4365-9C27-E793CEDE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2990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BA240-2812-483D-90B1-2A730170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180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85EA5-62A0-421B-B252-D69280FF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47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69D988"/>
                </a:solidFill>
                <a:latin typeface="Helvetica Neue"/>
                <a:ea typeface="Helvetica Neue"/>
                <a:cs typeface="Helvetica Neue"/>
              </a:rPr>
              <a:t>Public app launch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542D1-E14C-412F-9758-BA36C034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718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App store release, paid sync validation, support path, and retention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74E625-E8ED-4E7B-8EAF-04167E3B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2990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D1420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AB717-E3BA-421D-91DE-D0E7A014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Fundable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F171A-E2DF-47E6-A292-AED191DA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Usage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44841-174A-4FB9-9F72-C1FE5262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718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Activation, weekly repeat saves, search success, paid intent, and privacy trust signals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9C83D-E95E-4A82-9D24-9134F309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2920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This pitch should be paired with a live product demo and a short metric sheet once beta usage begins.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6D1AA-66CE-4B88-9A24-0339A1CF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FAEE06-360B-46DF-B9F0-94EF6C7F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FA9602-74C1-4E03-AF4A-1D856209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111382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2cc80fdb04936"/>
          <a:srcRect xmlns:a="http://schemas.openxmlformats.org/drawingml/2006/main" l="25299" t="0" r="252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0"/>
            <a:ext cx="6019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EA02A-39EC-4335-9D3E-57F73170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C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AA329-7D1A-4176-A25C-4948B09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Funding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C3E76-7475-47FA-92CC-98291C60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F7FAFF"/>
                </a:solidFill>
                <a:latin typeface="Helvetica Neue"/>
                <a:ea typeface="Helvetica Neue"/>
                <a:cs typeface="Helvetica Neue"/>
              </a:rPr>
              <a:t>Help move Memora from focused MVP to measurable beta.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CFE85-14CC-4AAE-891A-A02A0A04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5429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Finish the app store-ready mobile experience.</a:t>
            </a:r>
          </a:p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Validate sync and AI as paid value layers.</a:t>
            </a:r>
          </a:p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Build evidence around activation, recall success, and retention.</a:t>
            </a:r>
          </a:p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Insert round amount and terms before external circulation.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13F8D-F454-49E0-A245-BAFFD264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BCE8A-05D4-4A6B-BD12-DDEE07EC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B7902-D25E-45F3-B7AB-8FC8157F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979001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2026-09-05T07:14:12.7900000Z</dcterms:created>
  <dcterms:modified xsi:type="dcterms:W3CDTF">2026-09-05T07:14:12.7900000Z</dcterms:modified>
</coreProperties>
</file>